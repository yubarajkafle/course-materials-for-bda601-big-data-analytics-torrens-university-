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155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155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155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155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155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534150"/>
            <a:ext cx="12191999" cy="32384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6241" y="732567"/>
            <a:ext cx="11034804" cy="1111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9587" y="741426"/>
            <a:ext cx="10972863" cy="508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76601" y="1673224"/>
            <a:ext cx="7152640" cy="612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19173" y="2633726"/>
            <a:ext cx="9153652" cy="160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64518" y="6624549"/>
            <a:ext cx="246761" cy="185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155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products/guardium-data-encryption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ibm.com/downloads/cas/RYPWOPRK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066" y="390143"/>
            <a:ext cx="1519291" cy="24352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881" y="1523742"/>
            <a:ext cx="4776888" cy="42425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38426" y="2633726"/>
            <a:ext cx="8534400" cy="1600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5"/>
              </a:spcBef>
            </a:pPr>
            <a:endParaRPr sz="32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</a:pPr>
            <a:r>
              <a:rPr sz="3200" spc="-50" dirty="0">
                <a:solidFill>
                  <a:srgbClr val="888888"/>
                </a:solidFill>
              </a:rPr>
              <a:t>Topic </a:t>
            </a:r>
            <a:r>
              <a:rPr sz="3200" dirty="0">
                <a:solidFill>
                  <a:srgbClr val="888888"/>
                </a:solidFill>
              </a:rPr>
              <a:t>12:</a:t>
            </a:r>
            <a:r>
              <a:rPr sz="3200" spc="-50" dirty="0">
                <a:solidFill>
                  <a:srgbClr val="888888"/>
                </a:solidFill>
              </a:rPr>
              <a:t> </a:t>
            </a:r>
            <a:r>
              <a:rPr sz="3200" dirty="0">
                <a:solidFill>
                  <a:srgbClr val="888888"/>
                </a:solidFill>
              </a:rPr>
              <a:t>Big</a:t>
            </a:r>
            <a:r>
              <a:rPr sz="3200" spc="-35" dirty="0">
                <a:solidFill>
                  <a:srgbClr val="888888"/>
                </a:solidFill>
              </a:rPr>
              <a:t> </a:t>
            </a:r>
            <a:r>
              <a:rPr sz="3200" dirty="0">
                <a:solidFill>
                  <a:srgbClr val="888888"/>
                </a:solidFill>
              </a:rPr>
              <a:t>Data</a:t>
            </a:r>
            <a:r>
              <a:rPr sz="3200" spc="-95" dirty="0">
                <a:solidFill>
                  <a:srgbClr val="888888"/>
                </a:solidFill>
              </a:rPr>
              <a:t> </a:t>
            </a:r>
            <a:r>
              <a:rPr sz="3200" dirty="0">
                <a:solidFill>
                  <a:srgbClr val="888888"/>
                </a:solidFill>
              </a:rPr>
              <a:t>Privacy</a:t>
            </a:r>
            <a:r>
              <a:rPr sz="3200" spc="-70" dirty="0">
                <a:solidFill>
                  <a:srgbClr val="888888"/>
                </a:solidFill>
              </a:rPr>
              <a:t> </a:t>
            </a:r>
            <a:r>
              <a:rPr sz="3200" dirty="0">
                <a:solidFill>
                  <a:srgbClr val="888888"/>
                </a:solidFill>
              </a:rPr>
              <a:t>and</a:t>
            </a:r>
            <a:r>
              <a:rPr sz="3200" spc="-35" dirty="0">
                <a:solidFill>
                  <a:srgbClr val="888888"/>
                </a:solidFill>
              </a:rPr>
              <a:t> </a:t>
            </a:r>
            <a:r>
              <a:rPr sz="3200" spc="-10" dirty="0">
                <a:solidFill>
                  <a:srgbClr val="888888"/>
                </a:solidFill>
              </a:rPr>
              <a:t>Security</a:t>
            </a:r>
            <a:endParaRPr sz="32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78950" y="191813"/>
            <a:ext cx="1209989" cy="34322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950589" y="4728527"/>
            <a:ext cx="432117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Arial MT"/>
                <a:cs typeface="Arial MT"/>
              </a:rPr>
              <a:t>We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will</a:t>
            </a:r>
            <a:r>
              <a:rPr sz="1550" spc="8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wait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for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5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to 10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mins</a:t>
            </a:r>
            <a:r>
              <a:rPr sz="1550" spc="9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for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everyone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to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spc="-20" dirty="0">
                <a:latin typeface="Arial MT"/>
                <a:cs typeface="Arial MT"/>
              </a:rPr>
              <a:t>join</a:t>
            </a:r>
            <a:endParaRPr sz="155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24855" y="6621374"/>
            <a:ext cx="1431290" cy="1854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Big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6241" y="191813"/>
            <a:ext cx="11313160" cy="652145"/>
            <a:chOff x="476241" y="191813"/>
            <a:chExt cx="11313160" cy="6521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030" y="399714"/>
              <a:ext cx="919351" cy="2910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78950" y="191813"/>
              <a:ext cx="1209989" cy="34322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87057" y="1065761"/>
            <a:ext cx="5215255" cy="108876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10"/>
              </a:spcBef>
              <a:buFont typeface="Arial MT"/>
              <a:buChar char="•"/>
              <a:tabLst>
                <a:tab pos="355600" algn="l"/>
              </a:tabLst>
            </a:pPr>
            <a:r>
              <a:rPr sz="2750" dirty="0">
                <a:latin typeface="Arial MT"/>
                <a:cs typeface="Arial MT"/>
              </a:rPr>
              <a:t>What</a:t>
            </a:r>
            <a:r>
              <a:rPr sz="2750" spc="14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we</a:t>
            </a:r>
            <a:r>
              <a:rPr sz="2750" spc="114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discussed</a:t>
            </a:r>
            <a:r>
              <a:rPr sz="2750" spc="114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last</a:t>
            </a:r>
            <a:r>
              <a:rPr sz="2750" spc="14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week?</a:t>
            </a:r>
            <a:endParaRPr sz="2750" dirty="0">
              <a:latin typeface="Arial MT"/>
              <a:cs typeface="Arial MT"/>
            </a:endParaRPr>
          </a:p>
          <a:p>
            <a:pPr marL="812800" lvl="1" indent="-342265">
              <a:lnSpc>
                <a:spcPct val="100000"/>
              </a:lnSpc>
              <a:spcBef>
                <a:spcPts val="1030"/>
              </a:spcBef>
              <a:buChar char="•"/>
              <a:tabLst>
                <a:tab pos="812800" algn="l"/>
              </a:tabLst>
            </a:pPr>
            <a:r>
              <a:rPr sz="2400" dirty="0">
                <a:latin typeface="Arial MT"/>
                <a:cs typeface="Arial MT"/>
              </a:rPr>
              <a:t>Graph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analytics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6050" y="1285875"/>
            <a:ext cx="4962525" cy="496252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324855" y="6621374"/>
            <a:ext cx="1431290" cy="1854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Big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099" y="399721"/>
            <a:ext cx="3510076" cy="30056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7057" y="1325562"/>
            <a:ext cx="5203190" cy="405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770" marR="17780" indent="-179705">
              <a:lnSpc>
                <a:spcPct val="100000"/>
              </a:lnSpc>
              <a:spcBef>
                <a:spcPts val="100"/>
              </a:spcBef>
              <a:buClr>
                <a:srgbClr val="877D6D"/>
              </a:buClr>
              <a:buFont typeface="Arial MT"/>
              <a:buChar char="•"/>
              <a:tabLst>
                <a:tab pos="193675" algn="l"/>
              </a:tabLst>
            </a:pPr>
            <a:r>
              <a:rPr sz="2400" b="1" dirty="0">
                <a:latin typeface="Arial"/>
                <a:cs typeface="Arial"/>
              </a:rPr>
              <a:t>Definition: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Graph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analytics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set 	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analytical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techniques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allow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for 	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exploration of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relationships, 	</a:t>
            </a:r>
            <a:r>
              <a:rPr sz="2400" dirty="0">
                <a:latin typeface="Arial MT"/>
                <a:cs typeface="Arial MT"/>
              </a:rPr>
              <a:t>patterns,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structures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within</a:t>
            </a:r>
            <a:endParaRPr sz="2400">
              <a:latin typeface="Arial MT"/>
              <a:cs typeface="Arial MT"/>
            </a:endParaRPr>
          </a:p>
          <a:p>
            <a:pPr marL="193675">
              <a:lnSpc>
                <a:spcPct val="100000"/>
              </a:lnSpc>
              <a:spcBef>
                <a:spcPts val="50"/>
              </a:spcBef>
            </a:pPr>
            <a:r>
              <a:rPr sz="2400" spc="-10" dirty="0">
                <a:latin typeface="Arial MT"/>
                <a:cs typeface="Arial MT"/>
              </a:rPr>
              <a:t>graph-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data.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2400">
              <a:latin typeface="Arial MT"/>
              <a:cs typeface="Arial MT"/>
            </a:endParaRPr>
          </a:p>
          <a:p>
            <a:pPr marL="193675" marR="5080" indent="-181610">
              <a:lnSpc>
                <a:spcPct val="100000"/>
              </a:lnSpc>
              <a:buChar char="•"/>
              <a:tabLst>
                <a:tab pos="193675" algn="l"/>
                <a:tab pos="277495" algn="l"/>
              </a:tabLst>
            </a:pPr>
            <a:r>
              <a:rPr sz="2400" dirty="0">
                <a:solidFill>
                  <a:srgbClr val="877D6D"/>
                </a:solidFill>
                <a:latin typeface="Arial MT"/>
                <a:cs typeface="Arial MT"/>
              </a:rPr>
              <a:t>	</a:t>
            </a:r>
            <a:r>
              <a:rPr sz="2400" dirty="0">
                <a:latin typeface="Arial MT"/>
                <a:cs typeface="Arial MT"/>
              </a:rPr>
              <a:t>graph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analytics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uncover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insights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large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datasets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relationships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social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networks, </a:t>
            </a:r>
            <a:r>
              <a:rPr sz="2400" dirty="0">
                <a:latin typeface="Arial MT"/>
                <a:cs typeface="Arial MT"/>
              </a:rPr>
              <a:t>supply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chains,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internet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topology.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45805" y="1902967"/>
            <a:ext cx="4708921" cy="34866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24855" y="6621374"/>
            <a:ext cx="1431290" cy="1854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Big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00" y="399721"/>
            <a:ext cx="3605325" cy="3005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5220" y="1368361"/>
            <a:ext cx="7442200" cy="9550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01699"/>
              </a:lnSpc>
              <a:spcBef>
                <a:spcPts val="85"/>
              </a:spcBef>
            </a:pPr>
            <a:r>
              <a:rPr b="1" dirty="0">
                <a:latin typeface="Arial"/>
                <a:cs typeface="Arial"/>
              </a:rPr>
              <a:t>Simple</a:t>
            </a:r>
            <a:r>
              <a:rPr b="1" spc="3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(Undirected)</a:t>
            </a:r>
            <a:r>
              <a:rPr b="1" spc="36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Graph:</a:t>
            </a:r>
            <a:r>
              <a:rPr b="1" spc="355" dirty="0">
                <a:latin typeface="Arial"/>
                <a:cs typeface="Arial"/>
              </a:rPr>
              <a:t> </a:t>
            </a:r>
            <a:r>
              <a:rPr dirty="0"/>
              <a:t>consists</a:t>
            </a:r>
            <a:r>
              <a:rPr spc="345" dirty="0"/>
              <a:t> </a:t>
            </a:r>
            <a:r>
              <a:rPr dirty="0"/>
              <a:t>of</a:t>
            </a:r>
            <a:r>
              <a:rPr spc="345" dirty="0"/>
              <a:t> </a:t>
            </a:r>
            <a:r>
              <a:rPr dirty="0"/>
              <a:t>V,</a:t>
            </a:r>
            <a:r>
              <a:rPr spc="340" dirty="0"/>
              <a:t> </a:t>
            </a:r>
            <a:r>
              <a:rPr dirty="0"/>
              <a:t>a</a:t>
            </a:r>
            <a:r>
              <a:rPr spc="355" dirty="0"/>
              <a:t> </a:t>
            </a:r>
            <a:r>
              <a:rPr dirty="0"/>
              <a:t>nonempty</a:t>
            </a:r>
            <a:r>
              <a:rPr spc="335" dirty="0"/>
              <a:t> </a:t>
            </a:r>
            <a:r>
              <a:rPr dirty="0"/>
              <a:t>set</a:t>
            </a:r>
            <a:r>
              <a:rPr spc="360" dirty="0"/>
              <a:t> </a:t>
            </a:r>
            <a:r>
              <a:rPr spc="-25" dirty="0"/>
              <a:t>of </a:t>
            </a:r>
            <a:r>
              <a:rPr dirty="0"/>
              <a:t>vertices,</a:t>
            </a:r>
            <a:r>
              <a:rPr spc="70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dirty="0"/>
              <a:t>E,</a:t>
            </a:r>
            <a:r>
              <a:rPr spc="70" dirty="0"/>
              <a:t> </a:t>
            </a:r>
            <a:r>
              <a:rPr dirty="0"/>
              <a:t>a</a:t>
            </a:r>
            <a:r>
              <a:rPr spc="85" dirty="0"/>
              <a:t> </a:t>
            </a:r>
            <a:r>
              <a:rPr dirty="0"/>
              <a:t>set</a:t>
            </a:r>
            <a:r>
              <a:rPr spc="90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dirty="0"/>
              <a:t>unordered</a:t>
            </a:r>
            <a:r>
              <a:rPr spc="55" dirty="0"/>
              <a:t> </a:t>
            </a:r>
            <a:r>
              <a:rPr dirty="0"/>
              <a:t>pairs</a:t>
            </a:r>
            <a:r>
              <a:rPr spc="40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distinct</a:t>
            </a:r>
            <a:r>
              <a:rPr spc="65" dirty="0"/>
              <a:t> </a:t>
            </a:r>
            <a:r>
              <a:rPr dirty="0"/>
              <a:t>elements</a:t>
            </a:r>
            <a:r>
              <a:rPr spc="70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spc="-50" dirty="0"/>
              <a:t>V </a:t>
            </a:r>
            <a:r>
              <a:rPr dirty="0"/>
              <a:t>called</a:t>
            </a:r>
            <a:r>
              <a:rPr spc="-55" dirty="0"/>
              <a:t> </a:t>
            </a:r>
            <a:r>
              <a:rPr dirty="0"/>
              <a:t>edges</a:t>
            </a:r>
            <a:r>
              <a:rPr spc="-20" dirty="0"/>
              <a:t> </a:t>
            </a:r>
            <a:r>
              <a:rPr spc="-10" dirty="0"/>
              <a:t>(undirected)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95220" y="2446337"/>
            <a:ext cx="743902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Representation</a:t>
            </a:r>
            <a:r>
              <a:rPr sz="2000" spc="5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Example:</a:t>
            </a:r>
            <a:r>
              <a:rPr sz="2000" spc="5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G(V,</a:t>
            </a:r>
            <a:r>
              <a:rPr sz="2000" spc="30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E),</a:t>
            </a:r>
            <a:r>
              <a:rPr sz="2000" spc="-20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V</a:t>
            </a:r>
            <a:r>
              <a:rPr sz="2000" spc="10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= {u,</a:t>
            </a:r>
            <a:r>
              <a:rPr sz="2000" spc="-15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v,</a:t>
            </a:r>
            <a:r>
              <a:rPr sz="2000" spc="35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w},</a:t>
            </a:r>
            <a:r>
              <a:rPr sz="2000" spc="15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E</a:t>
            </a:r>
            <a:r>
              <a:rPr sz="2000" spc="10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= {{u,</a:t>
            </a:r>
            <a:r>
              <a:rPr sz="2000" spc="-35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v},</a:t>
            </a:r>
            <a:r>
              <a:rPr sz="2000" spc="20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{v,</a:t>
            </a:r>
            <a:r>
              <a:rPr sz="2000" spc="20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279C1"/>
                </a:solidFill>
                <a:latin typeface="Arial MT"/>
                <a:cs typeface="Arial MT"/>
              </a:rPr>
              <a:t>w},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{u,</a:t>
            </a:r>
            <a:r>
              <a:rPr sz="2000" spc="-35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279C1"/>
                </a:solidFill>
                <a:latin typeface="Arial MT"/>
                <a:cs typeface="Arial MT"/>
              </a:rPr>
              <a:t>w}}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924363" y="3238563"/>
            <a:ext cx="2519680" cy="462280"/>
            <a:chOff x="3924363" y="3238563"/>
            <a:chExt cx="2519680" cy="462280"/>
          </a:xfrm>
        </p:grpSpPr>
        <p:sp>
          <p:nvSpPr>
            <p:cNvPr id="6" name="object 6"/>
            <p:cNvSpPr/>
            <p:nvPr/>
          </p:nvSpPr>
          <p:spPr>
            <a:xfrm>
              <a:off x="3929126" y="32433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797" y="5027"/>
                  </a:lnTo>
                  <a:lnTo>
                    <a:pt x="106691" y="19349"/>
                  </a:lnTo>
                  <a:lnTo>
                    <a:pt x="71321" y="41827"/>
                  </a:lnTo>
                  <a:lnTo>
                    <a:pt x="41827" y="71321"/>
                  </a:lnTo>
                  <a:lnTo>
                    <a:pt x="19349" y="106691"/>
                  </a:lnTo>
                  <a:lnTo>
                    <a:pt x="5027" y="146797"/>
                  </a:lnTo>
                  <a:lnTo>
                    <a:pt x="0" y="190500"/>
                  </a:lnTo>
                  <a:lnTo>
                    <a:pt x="5027" y="234162"/>
                  </a:lnTo>
                  <a:lnTo>
                    <a:pt x="19349" y="274253"/>
                  </a:lnTo>
                  <a:lnTo>
                    <a:pt x="41827" y="309625"/>
                  </a:lnTo>
                  <a:lnTo>
                    <a:pt x="71321" y="339132"/>
                  </a:lnTo>
                  <a:lnTo>
                    <a:pt x="106691" y="361627"/>
                  </a:lnTo>
                  <a:lnTo>
                    <a:pt x="14679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797"/>
                  </a:lnTo>
                  <a:lnTo>
                    <a:pt x="361627" y="106691"/>
                  </a:lnTo>
                  <a:lnTo>
                    <a:pt x="339132" y="71321"/>
                  </a:lnTo>
                  <a:lnTo>
                    <a:pt x="309625" y="41827"/>
                  </a:lnTo>
                  <a:lnTo>
                    <a:pt x="274253" y="19349"/>
                  </a:lnTo>
                  <a:lnTo>
                    <a:pt x="234162" y="502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DBC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29126" y="32433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5027" y="146797"/>
                  </a:lnTo>
                  <a:lnTo>
                    <a:pt x="19349" y="106691"/>
                  </a:lnTo>
                  <a:lnTo>
                    <a:pt x="41827" y="71321"/>
                  </a:lnTo>
                  <a:lnTo>
                    <a:pt x="71321" y="41827"/>
                  </a:lnTo>
                  <a:lnTo>
                    <a:pt x="106691" y="19349"/>
                  </a:lnTo>
                  <a:lnTo>
                    <a:pt x="146797" y="5027"/>
                  </a:lnTo>
                  <a:lnTo>
                    <a:pt x="190500" y="0"/>
                  </a:lnTo>
                  <a:lnTo>
                    <a:pt x="234162" y="5027"/>
                  </a:lnTo>
                  <a:lnTo>
                    <a:pt x="274253" y="19349"/>
                  </a:lnTo>
                  <a:lnTo>
                    <a:pt x="309625" y="41827"/>
                  </a:lnTo>
                  <a:lnTo>
                    <a:pt x="339132" y="71321"/>
                  </a:lnTo>
                  <a:lnTo>
                    <a:pt x="361627" y="106691"/>
                  </a:lnTo>
                  <a:lnTo>
                    <a:pt x="375965" y="146797"/>
                  </a:lnTo>
                  <a:lnTo>
                    <a:pt x="381000" y="190500"/>
                  </a:ln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797" y="375965"/>
                  </a:lnTo>
                  <a:lnTo>
                    <a:pt x="106691" y="361627"/>
                  </a:lnTo>
                  <a:lnTo>
                    <a:pt x="71321" y="339132"/>
                  </a:lnTo>
                  <a:lnTo>
                    <a:pt x="41827" y="309625"/>
                  </a:lnTo>
                  <a:lnTo>
                    <a:pt x="19349" y="274253"/>
                  </a:lnTo>
                  <a:lnTo>
                    <a:pt x="5027" y="234162"/>
                  </a:lnTo>
                  <a:lnTo>
                    <a:pt x="0" y="1905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62726" y="33195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797" y="5027"/>
                  </a:lnTo>
                  <a:lnTo>
                    <a:pt x="106691" y="19349"/>
                  </a:lnTo>
                  <a:lnTo>
                    <a:pt x="71321" y="41827"/>
                  </a:lnTo>
                  <a:lnTo>
                    <a:pt x="41827" y="71321"/>
                  </a:lnTo>
                  <a:lnTo>
                    <a:pt x="19349" y="106691"/>
                  </a:lnTo>
                  <a:lnTo>
                    <a:pt x="5027" y="146797"/>
                  </a:lnTo>
                  <a:lnTo>
                    <a:pt x="0" y="190500"/>
                  </a:lnTo>
                  <a:lnTo>
                    <a:pt x="5027" y="234162"/>
                  </a:lnTo>
                  <a:lnTo>
                    <a:pt x="19349" y="274253"/>
                  </a:lnTo>
                  <a:lnTo>
                    <a:pt x="41827" y="309625"/>
                  </a:lnTo>
                  <a:lnTo>
                    <a:pt x="71321" y="339132"/>
                  </a:lnTo>
                  <a:lnTo>
                    <a:pt x="106691" y="361627"/>
                  </a:lnTo>
                  <a:lnTo>
                    <a:pt x="14679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797"/>
                  </a:lnTo>
                  <a:lnTo>
                    <a:pt x="361627" y="106691"/>
                  </a:lnTo>
                  <a:lnTo>
                    <a:pt x="339132" y="71321"/>
                  </a:lnTo>
                  <a:lnTo>
                    <a:pt x="309625" y="41827"/>
                  </a:lnTo>
                  <a:lnTo>
                    <a:pt x="274253" y="19349"/>
                  </a:lnTo>
                  <a:lnTo>
                    <a:pt x="234162" y="502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DBC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060571" y="3346132"/>
            <a:ext cx="204597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48920" algn="l"/>
                <a:tab pos="2032635" algn="l"/>
              </a:tabLst>
            </a:pPr>
            <a:r>
              <a:rPr sz="950" spc="-50" dirty="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sz="9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950" u="sng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62726" y="331952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500"/>
                </a:moveTo>
                <a:lnTo>
                  <a:pt x="5027" y="146797"/>
                </a:lnTo>
                <a:lnTo>
                  <a:pt x="19349" y="106691"/>
                </a:lnTo>
                <a:lnTo>
                  <a:pt x="41827" y="71321"/>
                </a:lnTo>
                <a:lnTo>
                  <a:pt x="71321" y="41827"/>
                </a:lnTo>
                <a:lnTo>
                  <a:pt x="106691" y="19349"/>
                </a:lnTo>
                <a:lnTo>
                  <a:pt x="146797" y="5027"/>
                </a:lnTo>
                <a:lnTo>
                  <a:pt x="190500" y="0"/>
                </a:lnTo>
                <a:lnTo>
                  <a:pt x="234162" y="5027"/>
                </a:lnTo>
                <a:lnTo>
                  <a:pt x="274253" y="19349"/>
                </a:lnTo>
                <a:lnTo>
                  <a:pt x="309625" y="41827"/>
                </a:lnTo>
                <a:lnTo>
                  <a:pt x="339132" y="71321"/>
                </a:lnTo>
                <a:lnTo>
                  <a:pt x="361627" y="106691"/>
                </a:lnTo>
                <a:lnTo>
                  <a:pt x="375965" y="146797"/>
                </a:lnTo>
                <a:lnTo>
                  <a:pt x="381000" y="190500"/>
                </a:lnTo>
                <a:lnTo>
                  <a:pt x="375965" y="234162"/>
                </a:lnTo>
                <a:lnTo>
                  <a:pt x="361627" y="274253"/>
                </a:lnTo>
                <a:lnTo>
                  <a:pt x="339132" y="309625"/>
                </a:lnTo>
                <a:lnTo>
                  <a:pt x="309625" y="339132"/>
                </a:lnTo>
                <a:lnTo>
                  <a:pt x="274253" y="361627"/>
                </a:lnTo>
                <a:lnTo>
                  <a:pt x="234162" y="375965"/>
                </a:lnTo>
                <a:lnTo>
                  <a:pt x="190500" y="381000"/>
                </a:lnTo>
                <a:lnTo>
                  <a:pt x="146797" y="375965"/>
                </a:lnTo>
                <a:lnTo>
                  <a:pt x="106691" y="361627"/>
                </a:lnTo>
                <a:lnTo>
                  <a:pt x="71321" y="339132"/>
                </a:lnTo>
                <a:lnTo>
                  <a:pt x="41827" y="309625"/>
                </a:lnTo>
                <a:lnTo>
                  <a:pt x="19349" y="274253"/>
                </a:lnTo>
                <a:lnTo>
                  <a:pt x="5027" y="234162"/>
                </a:lnTo>
                <a:lnTo>
                  <a:pt x="0" y="1905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195695" y="3422332"/>
            <a:ext cx="8763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14963" y="4457763"/>
            <a:ext cx="390525" cy="390525"/>
            <a:chOff x="4914963" y="4457763"/>
            <a:chExt cx="390525" cy="390525"/>
          </a:xfrm>
        </p:grpSpPr>
        <p:sp>
          <p:nvSpPr>
            <p:cNvPr id="13" name="object 13"/>
            <p:cNvSpPr/>
            <p:nvPr/>
          </p:nvSpPr>
          <p:spPr>
            <a:xfrm>
              <a:off x="4919726" y="44625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797" y="5027"/>
                  </a:lnTo>
                  <a:lnTo>
                    <a:pt x="106691" y="19349"/>
                  </a:lnTo>
                  <a:lnTo>
                    <a:pt x="71321" y="41827"/>
                  </a:lnTo>
                  <a:lnTo>
                    <a:pt x="41827" y="71321"/>
                  </a:lnTo>
                  <a:lnTo>
                    <a:pt x="19349" y="106691"/>
                  </a:lnTo>
                  <a:lnTo>
                    <a:pt x="5027" y="146797"/>
                  </a:lnTo>
                  <a:lnTo>
                    <a:pt x="0" y="190500"/>
                  </a:lnTo>
                  <a:lnTo>
                    <a:pt x="5027" y="234162"/>
                  </a:lnTo>
                  <a:lnTo>
                    <a:pt x="19349" y="274253"/>
                  </a:lnTo>
                  <a:lnTo>
                    <a:pt x="41827" y="309625"/>
                  </a:lnTo>
                  <a:lnTo>
                    <a:pt x="71321" y="339132"/>
                  </a:lnTo>
                  <a:lnTo>
                    <a:pt x="106691" y="361627"/>
                  </a:lnTo>
                  <a:lnTo>
                    <a:pt x="14679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797"/>
                  </a:lnTo>
                  <a:lnTo>
                    <a:pt x="361627" y="106691"/>
                  </a:lnTo>
                  <a:lnTo>
                    <a:pt x="339132" y="71321"/>
                  </a:lnTo>
                  <a:lnTo>
                    <a:pt x="309625" y="41827"/>
                  </a:lnTo>
                  <a:lnTo>
                    <a:pt x="274253" y="19349"/>
                  </a:lnTo>
                  <a:lnTo>
                    <a:pt x="234162" y="502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DBC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19726" y="44625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5027" y="146797"/>
                  </a:lnTo>
                  <a:lnTo>
                    <a:pt x="19349" y="106691"/>
                  </a:lnTo>
                  <a:lnTo>
                    <a:pt x="41827" y="71321"/>
                  </a:lnTo>
                  <a:lnTo>
                    <a:pt x="71321" y="41827"/>
                  </a:lnTo>
                  <a:lnTo>
                    <a:pt x="106691" y="19349"/>
                  </a:lnTo>
                  <a:lnTo>
                    <a:pt x="146797" y="5027"/>
                  </a:lnTo>
                  <a:lnTo>
                    <a:pt x="190500" y="0"/>
                  </a:lnTo>
                  <a:lnTo>
                    <a:pt x="234162" y="5027"/>
                  </a:lnTo>
                  <a:lnTo>
                    <a:pt x="274253" y="19349"/>
                  </a:lnTo>
                  <a:lnTo>
                    <a:pt x="309625" y="41827"/>
                  </a:lnTo>
                  <a:lnTo>
                    <a:pt x="339132" y="71321"/>
                  </a:lnTo>
                  <a:lnTo>
                    <a:pt x="361627" y="106691"/>
                  </a:lnTo>
                  <a:lnTo>
                    <a:pt x="375965" y="146797"/>
                  </a:lnTo>
                  <a:lnTo>
                    <a:pt x="381000" y="190500"/>
                  </a:ln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797" y="375965"/>
                  </a:lnTo>
                  <a:lnTo>
                    <a:pt x="106691" y="361627"/>
                  </a:lnTo>
                  <a:lnTo>
                    <a:pt x="71321" y="339132"/>
                  </a:lnTo>
                  <a:lnTo>
                    <a:pt x="41827" y="309625"/>
                  </a:lnTo>
                  <a:lnTo>
                    <a:pt x="19349" y="274253"/>
                  </a:lnTo>
                  <a:lnTo>
                    <a:pt x="5027" y="234162"/>
                  </a:lnTo>
                  <a:lnTo>
                    <a:pt x="0" y="1905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51805" y="4566856"/>
            <a:ext cx="11557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233926" y="3624326"/>
            <a:ext cx="1905000" cy="838200"/>
          </a:xfrm>
          <a:custGeom>
            <a:avLst/>
            <a:gdLst/>
            <a:ahLst/>
            <a:cxnLst/>
            <a:rect l="l" t="t" r="r" b="b"/>
            <a:pathLst>
              <a:path w="1905000" h="838200">
                <a:moveTo>
                  <a:pt x="1905000" y="76200"/>
                </a:moveTo>
                <a:lnTo>
                  <a:pt x="990600" y="838200"/>
                </a:lnTo>
              </a:path>
              <a:path w="1905000" h="838200">
                <a:moveTo>
                  <a:pt x="0" y="0"/>
                </a:moveTo>
                <a:lnTo>
                  <a:pt x="762000" y="838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324855" y="6621374"/>
            <a:ext cx="1431290" cy="1854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Big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00" y="399721"/>
            <a:ext cx="3605325" cy="3005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290"/>
              </a:lnSpc>
              <a:spcBef>
                <a:spcPts val="130"/>
              </a:spcBef>
            </a:pPr>
            <a:r>
              <a:rPr b="1" dirty="0">
                <a:latin typeface="Arial"/>
                <a:cs typeface="Arial"/>
              </a:rPr>
              <a:t>Directed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Graph: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dirty="0"/>
              <a:t>G(V,</a:t>
            </a:r>
            <a:r>
              <a:rPr spc="-5" dirty="0"/>
              <a:t> </a:t>
            </a:r>
            <a:r>
              <a:rPr dirty="0"/>
              <a:t>E),</a:t>
            </a:r>
            <a:r>
              <a:rPr spc="-80" dirty="0"/>
              <a:t> </a:t>
            </a:r>
            <a:r>
              <a:rPr dirty="0"/>
              <a:t>set</a:t>
            </a:r>
            <a:r>
              <a:rPr spc="-8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vertices</a:t>
            </a:r>
            <a:r>
              <a:rPr spc="-15" dirty="0"/>
              <a:t> </a:t>
            </a:r>
            <a:r>
              <a:rPr dirty="0"/>
              <a:t>V,</a:t>
            </a:r>
            <a:r>
              <a:rPr spc="-8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set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Edges</a:t>
            </a:r>
            <a:r>
              <a:rPr spc="-15" dirty="0"/>
              <a:t> </a:t>
            </a:r>
            <a:r>
              <a:rPr spc="-25" dirty="0"/>
              <a:t>E,</a:t>
            </a:r>
          </a:p>
          <a:p>
            <a:pPr marL="12700">
              <a:lnSpc>
                <a:spcPts val="2290"/>
              </a:lnSpc>
            </a:pPr>
            <a:r>
              <a:rPr dirty="0"/>
              <a:t>that</a:t>
            </a:r>
            <a:r>
              <a:rPr spc="-30" dirty="0"/>
              <a:t> </a:t>
            </a:r>
            <a:r>
              <a:rPr dirty="0"/>
              <a:t>are</a:t>
            </a:r>
            <a:r>
              <a:rPr spc="5" dirty="0"/>
              <a:t> </a:t>
            </a:r>
            <a:r>
              <a:rPr dirty="0"/>
              <a:t>ordered</a:t>
            </a:r>
            <a:r>
              <a:rPr spc="-60" dirty="0"/>
              <a:t> </a:t>
            </a:r>
            <a:r>
              <a:rPr dirty="0"/>
              <a:t>pair</a:t>
            </a:r>
            <a:r>
              <a:rPr spc="1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elements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V</a:t>
            </a:r>
            <a:r>
              <a:rPr spc="-65" dirty="0"/>
              <a:t> </a:t>
            </a:r>
            <a:r>
              <a:rPr dirty="0"/>
              <a:t>(directed</a:t>
            </a:r>
            <a:r>
              <a:rPr spc="-60" dirty="0"/>
              <a:t> </a:t>
            </a:r>
            <a:r>
              <a:rPr spc="-10" dirty="0"/>
              <a:t>edges)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76601" y="2370137"/>
            <a:ext cx="7378700" cy="61087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180"/>
              </a:lnSpc>
              <a:spcBef>
                <a:spcPts val="380"/>
              </a:spcBef>
            </a:pP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Representation</a:t>
            </a:r>
            <a:r>
              <a:rPr sz="2000" spc="-25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Example:</a:t>
            </a:r>
            <a:r>
              <a:rPr sz="2000" spc="-5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G(V,</a:t>
            </a:r>
            <a:r>
              <a:rPr sz="2000" spc="-5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E),</a:t>
            </a:r>
            <a:r>
              <a:rPr sz="2000" spc="-5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V</a:t>
            </a:r>
            <a:r>
              <a:rPr sz="2000" spc="-35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=</a:t>
            </a:r>
            <a:r>
              <a:rPr sz="2000" spc="-25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{u,</a:t>
            </a:r>
            <a:r>
              <a:rPr sz="2000" spc="-80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v,</a:t>
            </a:r>
            <a:r>
              <a:rPr sz="2000" spc="-75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w}, E</a:t>
            </a:r>
            <a:r>
              <a:rPr sz="2000" spc="-40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=</a:t>
            </a:r>
            <a:r>
              <a:rPr sz="2000" spc="-25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{(u,</a:t>
            </a:r>
            <a:r>
              <a:rPr sz="2000" spc="-80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v), (v,</a:t>
            </a:r>
            <a:r>
              <a:rPr sz="2000" spc="-5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279C1"/>
                </a:solidFill>
                <a:latin typeface="Arial MT"/>
                <a:cs typeface="Arial MT"/>
              </a:rPr>
              <a:t>w), </a:t>
            </a:r>
            <a:r>
              <a:rPr sz="2000" dirty="0">
                <a:solidFill>
                  <a:srgbClr val="2279C1"/>
                </a:solidFill>
                <a:latin typeface="Arial MT"/>
                <a:cs typeface="Arial MT"/>
              </a:rPr>
              <a:t>(w,</a:t>
            </a:r>
            <a:r>
              <a:rPr sz="2000" spc="-15" dirty="0">
                <a:solidFill>
                  <a:srgbClr val="2279C1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279C1"/>
                </a:solidFill>
                <a:latin typeface="Arial MT"/>
                <a:cs typeface="Arial MT"/>
              </a:rPr>
              <a:t>u)}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343463" y="3657663"/>
            <a:ext cx="390525" cy="390525"/>
            <a:chOff x="4343463" y="3657663"/>
            <a:chExt cx="390525" cy="390525"/>
          </a:xfrm>
        </p:grpSpPr>
        <p:sp>
          <p:nvSpPr>
            <p:cNvPr id="6" name="object 6"/>
            <p:cNvSpPr/>
            <p:nvPr/>
          </p:nvSpPr>
          <p:spPr>
            <a:xfrm>
              <a:off x="4348226" y="36624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797" y="5027"/>
                  </a:lnTo>
                  <a:lnTo>
                    <a:pt x="106691" y="19349"/>
                  </a:lnTo>
                  <a:lnTo>
                    <a:pt x="71321" y="41827"/>
                  </a:lnTo>
                  <a:lnTo>
                    <a:pt x="41827" y="71321"/>
                  </a:lnTo>
                  <a:lnTo>
                    <a:pt x="19349" y="106691"/>
                  </a:lnTo>
                  <a:lnTo>
                    <a:pt x="5027" y="146797"/>
                  </a:lnTo>
                  <a:lnTo>
                    <a:pt x="0" y="190500"/>
                  </a:lnTo>
                  <a:lnTo>
                    <a:pt x="5027" y="234162"/>
                  </a:lnTo>
                  <a:lnTo>
                    <a:pt x="19349" y="274253"/>
                  </a:lnTo>
                  <a:lnTo>
                    <a:pt x="41827" y="309625"/>
                  </a:lnTo>
                  <a:lnTo>
                    <a:pt x="71321" y="339132"/>
                  </a:lnTo>
                  <a:lnTo>
                    <a:pt x="106691" y="361627"/>
                  </a:lnTo>
                  <a:lnTo>
                    <a:pt x="14679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797"/>
                  </a:lnTo>
                  <a:lnTo>
                    <a:pt x="361627" y="106691"/>
                  </a:lnTo>
                  <a:lnTo>
                    <a:pt x="339132" y="71321"/>
                  </a:lnTo>
                  <a:lnTo>
                    <a:pt x="309625" y="41827"/>
                  </a:lnTo>
                  <a:lnTo>
                    <a:pt x="274253" y="19349"/>
                  </a:lnTo>
                  <a:lnTo>
                    <a:pt x="234162" y="502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DBC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48226" y="36624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5027" y="146797"/>
                  </a:lnTo>
                  <a:lnTo>
                    <a:pt x="19349" y="106691"/>
                  </a:lnTo>
                  <a:lnTo>
                    <a:pt x="41827" y="71321"/>
                  </a:lnTo>
                  <a:lnTo>
                    <a:pt x="71321" y="41827"/>
                  </a:lnTo>
                  <a:lnTo>
                    <a:pt x="106691" y="19349"/>
                  </a:lnTo>
                  <a:lnTo>
                    <a:pt x="146797" y="5027"/>
                  </a:lnTo>
                  <a:lnTo>
                    <a:pt x="190500" y="0"/>
                  </a:lnTo>
                  <a:lnTo>
                    <a:pt x="234162" y="5027"/>
                  </a:lnTo>
                  <a:lnTo>
                    <a:pt x="274253" y="19349"/>
                  </a:lnTo>
                  <a:lnTo>
                    <a:pt x="309625" y="41827"/>
                  </a:lnTo>
                  <a:lnTo>
                    <a:pt x="339132" y="71321"/>
                  </a:lnTo>
                  <a:lnTo>
                    <a:pt x="361627" y="106691"/>
                  </a:lnTo>
                  <a:lnTo>
                    <a:pt x="375965" y="146797"/>
                  </a:lnTo>
                  <a:lnTo>
                    <a:pt x="381000" y="190500"/>
                  </a:ln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797" y="375965"/>
                  </a:lnTo>
                  <a:lnTo>
                    <a:pt x="106691" y="361627"/>
                  </a:lnTo>
                  <a:lnTo>
                    <a:pt x="71321" y="339132"/>
                  </a:lnTo>
                  <a:lnTo>
                    <a:pt x="41827" y="309625"/>
                  </a:lnTo>
                  <a:lnTo>
                    <a:pt x="19349" y="274253"/>
                  </a:lnTo>
                  <a:lnTo>
                    <a:pt x="5027" y="234162"/>
                  </a:lnTo>
                  <a:lnTo>
                    <a:pt x="0" y="1905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481576" y="3764216"/>
            <a:ext cx="946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57863" y="4953063"/>
            <a:ext cx="390525" cy="390525"/>
            <a:chOff x="5257863" y="4953063"/>
            <a:chExt cx="390525" cy="390525"/>
          </a:xfrm>
        </p:grpSpPr>
        <p:sp>
          <p:nvSpPr>
            <p:cNvPr id="10" name="object 10"/>
            <p:cNvSpPr/>
            <p:nvPr/>
          </p:nvSpPr>
          <p:spPr>
            <a:xfrm>
              <a:off x="5262626" y="49578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797" y="5027"/>
                  </a:lnTo>
                  <a:lnTo>
                    <a:pt x="106691" y="19349"/>
                  </a:lnTo>
                  <a:lnTo>
                    <a:pt x="71321" y="41827"/>
                  </a:lnTo>
                  <a:lnTo>
                    <a:pt x="41827" y="71321"/>
                  </a:lnTo>
                  <a:lnTo>
                    <a:pt x="19349" y="106691"/>
                  </a:lnTo>
                  <a:lnTo>
                    <a:pt x="5027" y="146797"/>
                  </a:lnTo>
                  <a:lnTo>
                    <a:pt x="0" y="190500"/>
                  </a:lnTo>
                  <a:lnTo>
                    <a:pt x="5027" y="234162"/>
                  </a:lnTo>
                  <a:lnTo>
                    <a:pt x="19349" y="274253"/>
                  </a:lnTo>
                  <a:lnTo>
                    <a:pt x="41827" y="309625"/>
                  </a:lnTo>
                  <a:lnTo>
                    <a:pt x="71321" y="339132"/>
                  </a:lnTo>
                  <a:lnTo>
                    <a:pt x="106691" y="361627"/>
                  </a:lnTo>
                  <a:lnTo>
                    <a:pt x="14679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797"/>
                  </a:lnTo>
                  <a:lnTo>
                    <a:pt x="361627" y="106691"/>
                  </a:lnTo>
                  <a:lnTo>
                    <a:pt x="339132" y="71321"/>
                  </a:lnTo>
                  <a:lnTo>
                    <a:pt x="309625" y="41827"/>
                  </a:lnTo>
                  <a:lnTo>
                    <a:pt x="274253" y="19349"/>
                  </a:lnTo>
                  <a:lnTo>
                    <a:pt x="234162" y="502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DBC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62626" y="49578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5027" y="146797"/>
                  </a:lnTo>
                  <a:lnTo>
                    <a:pt x="19349" y="106691"/>
                  </a:lnTo>
                  <a:lnTo>
                    <a:pt x="41827" y="71321"/>
                  </a:lnTo>
                  <a:lnTo>
                    <a:pt x="71321" y="41827"/>
                  </a:lnTo>
                  <a:lnTo>
                    <a:pt x="106691" y="19349"/>
                  </a:lnTo>
                  <a:lnTo>
                    <a:pt x="146797" y="5027"/>
                  </a:lnTo>
                  <a:lnTo>
                    <a:pt x="190500" y="0"/>
                  </a:lnTo>
                  <a:lnTo>
                    <a:pt x="234162" y="5027"/>
                  </a:lnTo>
                  <a:lnTo>
                    <a:pt x="274253" y="19349"/>
                  </a:lnTo>
                  <a:lnTo>
                    <a:pt x="309625" y="41827"/>
                  </a:lnTo>
                  <a:lnTo>
                    <a:pt x="339132" y="71321"/>
                  </a:lnTo>
                  <a:lnTo>
                    <a:pt x="361627" y="106691"/>
                  </a:lnTo>
                  <a:lnTo>
                    <a:pt x="375965" y="146797"/>
                  </a:lnTo>
                  <a:lnTo>
                    <a:pt x="381000" y="190500"/>
                  </a:ln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797" y="375965"/>
                  </a:lnTo>
                  <a:lnTo>
                    <a:pt x="106691" y="361627"/>
                  </a:lnTo>
                  <a:lnTo>
                    <a:pt x="71321" y="339132"/>
                  </a:lnTo>
                  <a:lnTo>
                    <a:pt x="41827" y="309625"/>
                  </a:lnTo>
                  <a:lnTo>
                    <a:pt x="19349" y="274253"/>
                  </a:lnTo>
                  <a:lnTo>
                    <a:pt x="5027" y="234162"/>
                  </a:lnTo>
                  <a:lnTo>
                    <a:pt x="0" y="1905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96610" y="5061966"/>
            <a:ext cx="11493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48463" y="3657663"/>
            <a:ext cx="390525" cy="390525"/>
            <a:chOff x="6248463" y="3657663"/>
            <a:chExt cx="390525" cy="390525"/>
          </a:xfrm>
        </p:grpSpPr>
        <p:sp>
          <p:nvSpPr>
            <p:cNvPr id="14" name="object 14"/>
            <p:cNvSpPr/>
            <p:nvPr/>
          </p:nvSpPr>
          <p:spPr>
            <a:xfrm>
              <a:off x="6253226" y="36624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797" y="5027"/>
                  </a:lnTo>
                  <a:lnTo>
                    <a:pt x="106691" y="19349"/>
                  </a:lnTo>
                  <a:lnTo>
                    <a:pt x="71321" y="41827"/>
                  </a:lnTo>
                  <a:lnTo>
                    <a:pt x="41827" y="71321"/>
                  </a:lnTo>
                  <a:lnTo>
                    <a:pt x="19349" y="106691"/>
                  </a:lnTo>
                  <a:lnTo>
                    <a:pt x="5027" y="146797"/>
                  </a:lnTo>
                  <a:lnTo>
                    <a:pt x="0" y="190500"/>
                  </a:lnTo>
                  <a:lnTo>
                    <a:pt x="5027" y="234162"/>
                  </a:lnTo>
                  <a:lnTo>
                    <a:pt x="19349" y="274253"/>
                  </a:lnTo>
                  <a:lnTo>
                    <a:pt x="41827" y="309625"/>
                  </a:lnTo>
                  <a:lnTo>
                    <a:pt x="71321" y="339132"/>
                  </a:lnTo>
                  <a:lnTo>
                    <a:pt x="106691" y="361627"/>
                  </a:lnTo>
                  <a:lnTo>
                    <a:pt x="14679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797"/>
                  </a:lnTo>
                  <a:lnTo>
                    <a:pt x="361627" y="106691"/>
                  </a:lnTo>
                  <a:lnTo>
                    <a:pt x="339132" y="71321"/>
                  </a:lnTo>
                  <a:lnTo>
                    <a:pt x="309625" y="41827"/>
                  </a:lnTo>
                  <a:lnTo>
                    <a:pt x="274253" y="19349"/>
                  </a:lnTo>
                  <a:lnTo>
                    <a:pt x="234162" y="502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BDBC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53226" y="366242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5027" y="146797"/>
                  </a:lnTo>
                  <a:lnTo>
                    <a:pt x="19349" y="106691"/>
                  </a:lnTo>
                  <a:lnTo>
                    <a:pt x="41827" y="71321"/>
                  </a:lnTo>
                  <a:lnTo>
                    <a:pt x="71321" y="41827"/>
                  </a:lnTo>
                  <a:lnTo>
                    <a:pt x="106691" y="19349"/>
                  </a:lnTo>
                  <a:lnTo>
                    <a:pt x="146797" y="5027"/>
                  </a:lnTo>
                  <a:lnTo>
                    <a:pt x="190500" y="0"/>
                  </a:lnTo>
                  <a:lnTo>
                    <a:pt x="234162" y="5027"/>
                  </a:lnTo>
                  <a:lnTo>
                    <a:pt x="274253" y="19349"/>
                  </a:lnTo>
                  <a:lnTo>
                    <a:pt x="309625" y="41827"/>
                  </a:lnTo>
                  <a:lnTo>
                    <a:pt x="339132" y="71321"/>
                  </a:lnTo>
                  <a:lnTo>
                    <a:pt x="361627" y="106691"/>
                  </a:lnTo>
                  <a:lnTo>
                    <a:pt x="375965" y="146797"/>
                  </a:lnTo>
                  <a:lnTo>
                    <a:pt x="381000" y="190500"/>
                  </a:ln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797" y="375965"/>
                  </a:lnTo>
                  <a:lnTo>
                    <a:pt x="106691" y="361627"/>
                  </a:lnTo>
                  <a:lnTo>
                    <a:pt x="71321" y="339132"/>
                  </a:lnTo>
                  <a:lnTo>
                    <a:pt x="41827" y="309625"/>
                  </a:lnTo>
                  <a:lnTo>
                    <a:pt x="19349" y="274253"/>
                  </a:lnTo>
                  <a:lnTo>
                    <a:pt x="5027" y="234162"/>
                  </a:lnTo>
                  <a:lnTo>
                    <a:pt x="0" y="1905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387846" y="3764216"/>
            <a:ext cx="8763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53026" y="3776725"/>
            <a:ext cx="1681480" cy="1184910"/>
          </a:xfrm>
          <a:custGeom>
            <a:avLst/>
            <a:gdLst/>
            <a:ahLst/>
            <a:cxnLst/>
            <a:rect l="l" t="t" r="r" b="b"/>
            <a:pathLst>
              <a:path w="1681479" h="1184910">
                <a:moveTo>
                  <a:pt x="690753" y="1177290"/>
                </a:moveTo>
                <a:lnTo>
                  <a:pt x="50736" y="323824"/>
                </a:lnTo>
                <a:lnTo>
                  <a:pt x="64376" y="313563"/>
                </a:lnTo>
                <a:lnTo>
                  <a:pt x="76200" y="304673"/>
                </a:lnTo>
                <a:lnTo>
                  <a:pt x="0" y="266573"/>
                </a:lnTo>
                <a:lnTo>
                  <a:pt x="15240" y="350520"/>
                </a:lnTo>
                <a:lnTo>
                  <a:pt x="40589" y="331457"/>
                </a:lnTo>
                <a:lnTo>
                  <a:pt x="680720" y="1184910"/>
                </a:lnTo>
                <a:lnTo>
                  <a:pt x="690753" y="1177290"/>
                </a:lnTo>
                <a:close/>
              </a:path>
              <a:path w="1681479" h="1184910">
                <a:moveTo>
                  <a:pt x="1600073" y="38100"/>
                </a:moveTo>
                <a:lnTo>
                  <a:pt x="1587373" y="31750"/>
                </a:lnTo>
                <a:lnTo>
                  <a:pt x="1523873" y="0"/>
                </a:lnTo>
                <a:lnTo>
                  <a:pt x="1523873" y="31750"/>
                </a:lnTo>
                <a:lnTo>
                  <a:pt x="76073" y="31750"/>
                </a:lnTo>
                <a:lnTo>
                  <a:pt x="76073" y="44450"/>
                </a:lnTo>
                <a:lnTo>
                  <a:pt x="1523873" y="44450"/>
                </a:lnTo>
                <a:lnTo>
                  <a:pt x="1523873" y="76200"/>
                </a:lnTo>
                <a:lnTo>
                  <a:pt x="1587373" y="44450"/>
                </a:lnTo>
                <a:lnTo>
                  <a:pt x="1600073" y="38100"/>
                </a:lnTo>
                <a:close/>
              </a:path>
              <a:path w="1681479" h="1184910">
                <a:moveTo>
                  <a:pt x="1681226" y="270764"/>
                </a:moveTo>
                <a:lnTo>
                  <a:pt x="1671447" y="262509"/>
                </a:lnTo>
                <a:lnTo>
                  <a:pt x="958202" y="1118400"/>
                </a:lnTo>
                <a:lnTo>
                  <a:pt x="933831" y="1098042"/>
                </a:lnTo>
                <a:lnTo>
                  <a:pt x="914400" y="1180973"/>
                </a:lnTo>
                <a:lnTo>
                  <a:pt x="992378" y="1146937"/>
                </a:lnTo>
                <a:lnTo>
                  <a:pt x="979601" y="1136269"/>
                </a:lnTo>
                <a:lnTo>
                  <a:pt x="967955" y="1126553"/>
                </a:lnTo>
                <a:lnTo>
                  <a:pt x="1681226" y="2707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24855" y="6621374"/>
            <a:ext cx="1431290" cy="1854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Big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092" y="409239"/>
            <a:ext cx="2700466" cy="2910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7057" y="1316037"/>
            <a:ext cx="5214620" cy="43922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93675" marR="5080" indent="-181610">
              <a:lnSpc>
                <a:spcPct val="102800"/>
              </a:lnSpc>
              <a:spcBef>
                <a:spcPts val="55"/>
              </a:spcBef>
              <a:buClr>
                <a:srgbClr val="877D6D"/>
              </a:buClr>
              <a:buFont typeface="Calibri"/>
              <a:buChar char="•"/>
              <a:tabLst>
                <a:tab pos="193675" algn="l"/>
              </a:tabLst>
            </a:pP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PageRank</a:t>
            </a:r>
            <a:r>
              <a:rPr sz="215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was</a:t>
            </a:r>
            <a:r>
              <a:rPr sz="2150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created</a:t>
            </a:r>
            <a:r>
              <a:rPr sz="2150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by</a:t>
            </a:r>
            <a:r>
              <a:rPr sz="215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Google’s</a:t>
            </a:r>
            <a:r>
              <a:rPr sz="215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232323"/>
                </a:solidFill>
                <a:latin typeface="Calibri"/>
                <a:cs typeface="Calibri"/>
              </a:rPr>
              <a:t>founders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Larry</a:t>
            </a:r>
            <a:r>
              <a:rPr sz="215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Page</a:t>
            </a:r>
            <a:r>
              <a:rPr sz="2150" spc="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215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Sergey</a:t>
            </a:r>
            <a:r>
              <a:rPr sz="215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Brin</a:t>
            </a:r>
            <a:r>
              <a:rPr sz="215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2150" spc="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rank</a:t>
            </a:r>
            <a:r>
              <a:rPr sz="215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232323"/>
                </a:solidFill>
                <a:latin typeface="Calibri"/>
                <a:cs typeface="Calibri"/>
              </a:rPr>
              <a:t>web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pages,</a:t>
            </a:r>
            <a:r>
              <a:rPr sz="215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treating</a:t>
            </a:r>
            <a:r>
              <a:rPr sz="215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2150" spc="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internet</a:t>
            </a:r>
            <a:r>
              <a:rPr sz="2150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as</a:t>
            </a:r>
            <a:r>
              <a:rPr sz="215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2150" spc="1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232323"/>
                </a:solidFill>
                <a:latin typeface="Calibri"/>
                <a:cs typeface="Calibri"/>
              </a:rPr>
              <a:t>directed graph.</a:t>
            </a:r>
            <a:endParaRPr sz="2150">
              <a:latin typeface="Calibri"/>
              <a:cs typeface="Calibri"/>
            </a:endParaRPr>
          </a:p>
          <a:p>
            <a:pPr marL="193675" marR="16510" indent="-181610">
              <a:lnSpc>
                <a:spcPct val="101899"/>
              </a:lnSpc>
              <a:spcBef>
                <a:spcPts val="1355"/>
              </a:spcBef>
              <a:buClr>
                <a:srgbClr val="877D6D"/>
              </a:buClr>
              <a:buChar char="•"/>
              <a:tabLst>
                <a:tab pos="193675" algn="l"/>
              </a:tabLst>
            </a:pP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2150" spc="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goal</a:t>
            </a:r>
            <a:r>
              <a:rPr sz="215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215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2150" spc="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identify</a:t>
            </a:r>
            <a:r>
              <a:rPr sz="2150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215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most</a:t>
            </a:r>
            <a:r>
              <a:rPr sz="215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central</a:t>
            </a:r>
            <a:r>
              <a:rPr sz="215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232323"/>
                </a:solidFill>
                <a:latin typeface="Calibri"/>
                <a:cs typeface="Calibri"/>
              </a:rPr>
              <a:t>or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interesting</a:t>
            </a:r>
            <a:r>
              <a:rPr sz="2150" spc="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node</a:t>
            </a:r>
            <a:r>
              <a:rPr sz="2150" spc="1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within</a:t>
            </a:r>
            <a:r>
              <a:rPr sz="215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this</a:t>
            </a:r>
            <a:r>
              <a:rPr sz="215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graph,</a:t>
            </a:r>
            <a:r>
              <a:rPr sz="215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based</a:t>
            </a:r>
            <a:r>
              <a:rPr sz="215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232323"/>
                </a:solidFill>
                <a:latin typeface="Calibri"/>
                <a:cs typeface="Calibri"/>
              </a:rPr>
              <a:t>on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2150" spc="1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intuition</a:t>
            </a:r>
            <a:r>
              <a:rPr sz="2150" spc="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that</a:t>
            </a:r>
            <a:r>
              <a:rPr sz="2150" spc="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a</a:t>
            </a:r>
            <a:r>
              <a:rPr sz="215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node</a:t>
            </a:r>
            <a:r>
              <a:rPr sz="2150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215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important</a:t>
            </a:r>
            <a:r>
              <a:rPr sz="215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if</a:t>
            </a:r>
            <a:r>
              <a:rPr sz="2150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spc="-20" dirty="0">
                <a:solidFill>
                  <a:srgbClr val="232323"/>
                </a:solidFill>
                <a:latin typeface="Calibri"/>
                <a:cs typeface="Calibri"/>
              </a:rPr>
              <a:t>it’s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connected</a:t>
            </a:r>
            <a:r>
              <a:rPr sz="215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215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other</a:t>
            </a:r>
            <a:r>
              <a:rPr sz="2150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important</a:t>
            </a:r>
            <a:r>
              <a:rPr sz="215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232323"/>
                </a:solidFill>
                <a:latin typeface="Calibri"/>
                <a:cs typeface="Calibri"/>
              </a:rPr>
              <a:t>nodes.</a:t>
            </a:r>
            <a:endParaRPr sz="2150">
              <a:latin typeface="Calibri"/>
              <a:cs typeface="Calibri"/>
            </a:endParaRPr>
          </a:p>
          <a:p>
            <a:pPr marL="193675" indent="-180975">
              <a:lnSpc>
                <a:spcPct val="100000"/>
              </a:lnSpc>
              <a:spcBef>
                <a:spcPts val="1400"/>
              </a:spcBef>
              <a:buClr>
                <a:srgbClr val="877D6D"/>
              </a:buClr>
              <a:buChar char="•"/>
              <a:tabLst>
                <a:tab pos="193675" algn="l"/>
              </a:tabLst>
            </a:pP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215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solution</a:t>
            </a:r>
            <a:r>
              <a:rPr sz="215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proposed</a:t>
            </a:r>
            <a:r>
              <a:rPr sz="215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215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215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232323"/>
                </a:solidFill>
                <a:latin typeface="Calibri"/>
                <a:cs typeface="Calibri"/>
              </a:rPr>
              <a:t>employ</a:t>
            </a:r>
            <a:endParaRPr sz="2150">
              <a:latin typeface="Calibri"/>
              <a:cs typeface="Calibri"/>
            </a:endParaRPr>
          </a:p>
          <a:p>
            <a:pPr marL="193675" marR="370205">
              <a:lnSpc>
                <a:spcPts val="2700"/>
              </a:lnSpc>
              <a:spcBef>
                <a:spcPts val="35"/>
              </a:spcBef>
            </a:pP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2150" spc="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random</a:t>
            </a:r>
            <a:r>
              <a:rPr sz="2150" spc="1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walk</a:t>
            </a:r>
            <a:r>
              <a:rPr sz="2150" spc="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model,</a:t>
            </a:r>
            <a:r>
              <a:rPr sz="2150" spc="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where</a:t>
            </a:r>
            <a:r>
              <a:rPr sz="2150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2150" spc="1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i="1" spc="-20" dirty="0">
                <a:solidFill>
                  <a:srgbClr val="232323"/>
                </a:solidFill>
                <a:latin typeface="Calibri"/>
                <a:cs typeface="Calibri"/>
              </a:rPr>
              <a:t>most </a:t>
            </a:r>
            <a:r>
              <a:rPr sz="2150" i="1" dirty="0">
                <a:solidFill>
                  <a:srgbClr val="232323"/>
                </a:solidFill>
                <a:latin typeface="Calibri"/>
                <a:cs typeface="Calibri"/>
              </a:rPr>
              <a:t>popular</a:t>
            </a:r>
            <a:r>
              <a:rPr sz="2150" i="1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nodes</a:t>
            </a:r>
            <a:r>
              <a:rPr sz="2150" spc="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are</a:t>
            </a:r>
            <a:r>
              <a:rPr sz="2150" spc="1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those</a:t>
            </a:r>
            <a:r>
              <a:rPr sz="2150" spc="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spc="-20" dirty="0">
                <a:solidFill>
                  <a:srgbClr val="232323"/>
                </a:solidFill>
                <a:latin typeface="Calibri"/>
                <a:cs typeface="Calibri"/>
              </a:rPr>
              <a:t>with</a:t>
            </a:r>
            <a:endParaRPr sz="2150">
              <a:latin typeface="Calibri"/>
              <a:cs typeface="Calibri"/>
            </a:endParaRPr>
          </a:p>
          <a:p>
            <a:pPr marL="193675">
              <a:lnSpc>
                <a:spcPts val="2525"/>
              </a:lnSpc>
            </a:pP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2150" spc="11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i="1" dirty="0">
                <a:solidFill>
                  <a:srgbClr val="232323"/>
                </a:solidFill>
                <a:latin typeface="Calibri"/>
                <a:cs typeface="Calibri"/>
              </a:rPr>
              <a:t>highest</a:t>
            </a:r>
            <a:r>
              <a:rPr sz="2150" i="1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steady-state</a:t>
            </a:r>
            <a:r>
              <a:rPr sz="2150" spc="1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232323"/>
                </a:solidFill>
                <a:latin typeface="Calibri"/>
                <a:cs typeface="Calibri"/>
              </a:rPr>
              <a:t>probability</a:t>
            </a:r>
            <a:r>
              <a:rPr sz="215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232323"/>
                </a:solidFill>
                <a:latin typeface="Calibri"/>
                <a:cs typeface="Calibri"/>
              </a:rPr>
              <a:t>(SSP).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1562100"/>
            <a:ext cx="5381625" cy="43434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24855" y="6621374"/>
            <a:ext cx="1431290" cy="1854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Big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05" y="390196"/>
            <a:ext cx="4472090" cy="30056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7057" y="1180909"/>
            <a:ext cx="5133340" cy="5346464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Data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 Security</a:t>
            </a:r>
            <a:endParaRPr sz="1800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298450" marR="144780" indent="-285750">
              <a:lnSpc>
                <a:spcPts val="1950"/>
              </a:lnSpc>
              <a:spcBef>
                <a:spcPts val="1155"/>
              </a:spcBef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70C0"/>
                </a:solidFill>
                <a:latin typeface="Arial MT"/>
                <a:cs typeface="Arial MT"/>
              </a:rPr>
              <a:t>Data</a:t>
            </a:r>
            <a:r>
              <a:rPr sz="1800" spc="-25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70C0"/>
                </a:solidFill>
                <a:latin typeface="Arial MT"/>
                <a:cs typeface="Arial MT"/>
              </a:rPr>
              <a:t>security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practice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protecting</a:t>
            </a:r>
            <a:r>
              <a:rPr sz="1800" spc="-10" dirty="0">
                <a:latin typeface="Arial MT"/>
                <a:cs typeface="Arial MT"/>
              </a:rPr>
              <a:t> digital </a:t>
            </a:r>
            <a:r>
              <a:rPr sz="1800" dirty="0">
                <a:latin typeface="Arial MT"/>
                <a:cs typeface="Arial MT"/>
              </a:rPr>
              <a:t>information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unauthorized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access,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corruption </a:t>
            </a:r>
            <a:r>
              <a:rPr sz="1800" dirty="0">
                <a:latin typeface="Arial MT"/>
                <a:cs typeface="Arial MT"/>
              </a:rPr>
              <a:t>or theft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throughout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entire</a:t>
            </a:r>
            <a:r>
              <a:rPr sz="1800" spc="-10" dirty="0">
                <a:latin typeface="Arial MT"/>
                <a:cs typeface="Arial MT"/>
              </a:rPr>
              <a:t> lifecycle.</a:t>
            </a:r>
            <a:endParaRPr sz="1800" dirty="0">
              <a:latin typeface="Arial MT"/>
              <a:cs typeface="Arial MT"/>
            </a:endParaRPr>
          </a:p>
          <a:p>
            <a:pPr marL="298450" marR="5080" indent="-285750">
              <a:lnSpc>
                <a:spcPct val="90400"/>
              </a:lnSpc>
              <a:spcBef>
                <a:spcPts val="1030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Arial MT"/>
                <a:cs typeface="Arial MT"/>
              </a:rPr>
              <a:t>It’s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 concept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encompasses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every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aspect</a:t>
            </a:r>
            <a:r>
              <a:rPr sz="1800" spc="-25" dirty="0">
                <a:latin typeface="Arial MT"/>
                <a:cs typeface="Arial MT"/>
              </a:rPr>
              <a:t> of </a:t>
            </a:r>
            <a:r>
              <a:rPr sz="1800" dirty="0">
                <a:latin typeface="Arial MT"/>
                <a:cs typeface="Arial MT"/>
              </a:rPr>
              <a:t>information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security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physical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security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of </a:t>
            </a:r>
            <a:r>
              <a:rPr sz="1800" dirty="0">
                <a:latin typeface="Arial MT"/>
                <a:cs typeface="Arial MT"/>
              </a:rPr>
              <a:t>hardware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storage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devices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administrative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access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controls,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well as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logical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security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software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applications.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also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includes </a:t>
            </a:r>
            <a:r>
              <a:rPr sz="1800" dirty="0">
                <a:latin typeface="Arial MT"/>
                <a:cs typeface="Arial MT"/>
              </a:rPr>
              <a:t>organizational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policies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procedures.</a:t>
            </a:r>
            <a:endParaRPr sz="1800" dirty="0">
              <a:latin typeface="Arial MT"/>
              <a:cs typeface="Arial MT"/>
            </a:endParaRPr>
          </a:p>
          <a:p>
            <a:pPr marL="298450" marR="36830" indent="-285750">
              <a:lnSpc>
                <a:spcPct val="89700"/>
              </a:lnSpc>
              <a:spcBef>
                <a:spcPts val="1065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properly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implemented,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robust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security </a:t>
            </a:r>
            <a:r>
              <a:rPr sz="1800" dirty="0">
                <a:latin typeface="Arial MT"/>
                <a:cs typeface="Arial MT"/>
              </a:rPr>
              <a:t>strategies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protect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organization’s </a:t>
            </a:r>
            <a:r>
              <a:rPr sz="1800" dirty="0">
                <a:latin typeface="Arial MT"/>
                <a:cs typeface="Arial MT"/>
              </a:rPr>
              <a:t>information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assets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against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cybercriminal</a:t>
            </a:r>
            <a:r>
              <a:rPr sz="1800" spc="-10" dirty="0">
                <a:latin typeface="Arial MT"/>
                <a:cs typeface="Arial MT"/>
              </a:rPr>
              <a:t> activities,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they'll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also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guard against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insider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threats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dirty="0">
                <a:latin typeface="Arial MT"/>
                <a:cs typeface="Arial MT"/>
              </a:rPr>
              <a:t>human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error,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remain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among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leading </a:t>
            </a:r>
            <a:r>
              <a:rPr sz="1800" dirty="0">
                <a:latin typeface="Arial MT"/>
                <a:cs typeface="Arial MT"/>
              </a:rPr>
              <a:t>causes of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breaches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today.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1819275"/>
            <a:ext cx="5381625" cy="38290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24855" y="6621374"/>
            <a:ext cx="1431290" cy="1854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Big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094" y="390196"/>
            <a:ext cx="2881437" cy="30056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7057" y="870521"/>
            <a:ext cx="8710930" cy="127508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1240"/>
              </a:spcBef>
              <a:buClr>
                <a:srgbClr val="877D6D"/>
              </a:buClr>
              <a:buFont typeface="Arial MT"/>
              <a:buChar char="•"/>
              <a:tabLst>
                <a:tab pos="193675" algn="l"/>
              </a:tabLst>
            </a:pPr>
            <a:r>
              <a:rPr sz="1800" dirty="0">
                <a:latin typeface="Arial MT"/>
                <a:cs typeface="Arial MT"/>
              </a:rPr>
              <a:t>Privacy: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Protects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personal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determines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access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it</a:t>
            </a:r>
            <a:endParaRPr sz="1800">
              <a:latin typeface="Arial MT"/>
              <a:cs typeface="Arial MT"/>
            </a:endParaRPr>
          </a:p>
          <a:p>
            <a:pPr marL="193675" indent="-180975">
              <a:lnSpc>
                <a:spcPct val="100000"/>
              </a:lnSpc>
              <a:spcBef>
                <a:spcPts val="1145"/>
              </a:spcBef>
              <a:buClr>
                <a:srgbClr val="877D6D"/>
              </a:buClr>
              <a:buChar char="•"/>
              <a:tabLst>
                <a:tab pos="193675" algn="l"/>
              </a:tabLst>
            </a:pPr>
            <a:r>
              <a:rPr sz="1800" dirty="0">
                <a:latin typeface="Arial MT"/>
                <a:cs typeface="Arial MT"/>
              </a:rPr>
              <a:t>Security: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Protects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systems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attacks,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ensuring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how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safeguarded</a:t>
            </a:r>
            <a:endParaRPr sz="1800">
              <a:latin typeface="Arial MT"/>
              <a:cs typeface="Arial MT"/>
            </a:endParaRPr>
          </a:p>
          <a:p>
            <a:pPr marL="193675" indent="-180975">
              <a:lnSpc>
                <a:spcPct val="100000"/>
              </a:lnSpc>
              <a:spcBef>
                <a:spcPts val="1070"/>
              </a:spcBef>
              <a:buClr>
                <a:srgbClr val="877D6D"/>
              </a:buClr>
              <a:buChar char="•"/>
              <a:tabLst>
                <a:tab pos="193675" algn="l"/>
              </a:tabLst>
            </a:pPr>
            <a:r>
              <a:rPr sz="1800" dirty="0">
                <a:latin typeface="Arial MT"/>
                <a:cs typeface="Arial MT"/>
              </a:rPr>
              <a:t>Both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interdependent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distinct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concepts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49" y="390196"/>
            <a:ext cx="3414827" cy="30056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7057" y="870521"/>
            <a:ext cx="10385743" cy="308033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40"/>
              </a:spcBef>
              <a:buClr>
                <a:srgbClr val="877D6D"/>
              </a:buClr>
              <a:buFont typeface="Arial" panose="020B0604020202020204" pitchFamily="34" charset="0"/>
              <a:buChar char="•"/>
              <a:tabLst>
                <a:tab pos="193675" algn="l"/>
              </a:tabLst>
            </a:pPr>
            <a:r>
              <a:rPr sz="2400" dirty="0">
                <a:latin typeface="Arial MT"/>
                <a:cs typeface="Arial MT"/>
              </a:rPr>
              <a:t>Physical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Security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protection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hardware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infrastructure</a:t>
            </a:r>
            <a:endParaRPr sz="2400" dirty="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145"/>
              </a:spcBef>
              <a:buClr>
                <a:srgbClr val="877D6D"/>
              </a:buClr>
              <a:buFont typeface="Arial" panose="020B0604020202020204" pitchFamily="34" charset="0"/>
              <a:buChar char="•"/>
              <a:tabLst>
                <a:tab pos="193675" algn="l"/>
              </a:tabLst>
            </a:pPr>
            <a:r>
              <a:rPr sz="2400" dirty="0">
                <a:latin typeface="Arial MT"/>
                <a:cs typeface="Arial MT"/>
              </a:rPr>
              <a:t>Network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Security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firewalls,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intrusion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detection,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secure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connections</a:t>
            </a:r>
            <a:endParaRPr sz="2400" dirty="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070"/>
              </a:spcBef>
              <a:buClr>
                <a:srgbClr val="877D6D"/>
              </a:buClr>
              <a:buFont typeface="Arial" panose="020B0604020202020204" pitchFamily="34" charset="0"/>
              <a:buChar char="•"/>
              <a:tabLst>
                <a:tab pos="193675" algn="l"/>
              </a:tabLst>
            </a:pPr>
            <a:r>
              <a:rPr sz="2400" dirty="0">
                <a:latin typeface="Arial MT"/>
                <a:cs typeface="Arial MT"/>
              </a:rPr>
              <a:t>Application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Security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secure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coding,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vulnerability</a:t>
            </a:r>
            <a:r>
              <a:rPr sz="2400" spc="-10" dirty="0">
                <a:latin typeface="Arial MT"/>
                <a:cs typeface="Arial MT"/>
              </a:rPr>
              <a:t> testing</a:t>
            </a:r>
            <a:endParaRPr sz="2400" dirty="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070"/>
              </a:spcBef>
              <a:buClr>
                <a:srgbClr val="877D6D"/>
              </a:buClr>
              <a:buFont typeface="Arial" panose="020B0604020202020204" pitchFamily="34" charset="0"/>
              <a:buChar char="•"/>
              <a:tabLst>
                <a:tab pos="193675" algn="l"/>
              </a:tabLst>
            </a:pP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Encryption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securing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0" dirty="0">
                <a:latin typeface="Arial MT"/>
                <a:cs typeface="Arial MT"/>
              </a:rPr>
              <a:t> transit</a:t>
            </a:r>
            <a:endParaRPr sz="2400" dirty="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070"/>
              </a:spcBef>
              <a:buClr>
                <a:srgbClr val="877D6D"/>
              </a:buClr>
              <a:buFont typeface="Arial" panose="020B0604020202020204" pitchFamily="34" charset="0"/>
              <a:buChar char="•"/>
              <a:tabLst>
                <a:tab pos="193675" algn="l"/>
              </a:tabLst>
            </a:pPr>
            <a:r>
              <a:rPr sz="2400" dirty="0">
                <a:latin typeface="Arial MT"/>
                <a:cs typeface="Arial MT"/>
              </a:rPr>
              <a:t>Operational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Security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policies,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permissions,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monitoring</a:t>
            </a:r>
            <a:endParaRPr sz="2400" dirty="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070"/>
              </a:spcBef>
              <a:buClr>
                <a:srgbClr val="877D6D"/>
              </a:buClr>
              <a:buFont typeface="Arial" panose="020B0604020202020204" pitchFamily="34" charset="0"/>
              <a:buChar char="•"/>
              <a:tabLst>
                <a:tab pos="193675" algn="l"/>
              </a:tabLst>
            </a:pPr>
            <a:r>
              <a:rPr sz="2400" spc="-10" dirty="0">
                <a:latin typeface="Arial MT"/>
                <a:cs typeface="Arial MT"/>
              </a:rPr>
              <a:t>End-</a:t>
            </a:r>
            <a:r>
              <a:rPr sz="2400" dirty="0">
                <a:latin typeface="Arial MT"/>
                <a:cs typeface="Arial MT"/>
              </a:rPr>
              <a:t>user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Security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training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users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against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phishing/social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engineering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05" y="390196"/>
            <a:ext cx="4472090" cy="30056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7057" y="1190053"/>
            <a:ext cx="5194935" cy="3315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99715">
              <a:lnSpc>
                <a:spcPct val="149500"/>
              </a:lnSpc>
              <a:spcBef>
                <a:spcPts val="100"/>
              </a:spcBef>
            </a:pPr>
            <a:r>
              <a:rPr sz="1800" b="1" spc="-60" dirty="0">
                <a:solidFill>
                  <a:srgbClr val="161616"/>
                </a:solidFill>
                <a:latin typeface="Tahoma"/>
                <a:cs typeface="Tahoma"/>
              </a:rPr>
              <a:t>Types</a:t>
            </a:r>
            <a:r>
              <a:rPr sz="1800" b="1" spc="-70" dirty="0">
                <a:solidFill>
                  <a:srgbClr val="161616"/>
                </a:solidFill>
                <a:latin typeface="Tahoma"/>
                <a:cs typeface="Tahoma"/>
              </a:rPr>
              <a:t> </a:t>
            </a:r>
            <a:r>
              <a:rPr sz="1800" b="1" spc="-100" dirty="0">
                <a:solidFill>
                  <a:srgbClr val="161616"/>
                </a:solidFill>
                <a:latin typeface="Tahoma"/>
                <a:cs typeface="Tahoma"/>
              </a:rPr>
              <a:t>of</a:t>
            </a:r>
            <a:r>
              <a:rPr sz="1800" b="1" spc="-35" dirty="0">
                <a:solidFill>
                  <a:srgbClr val="161616"/>
                </a:solidFill>
                <a:latin typeface="Tahoma"/>
                <a:cs typeface="Tahoma"/>
              </a:rPr>
              <a:t> </a:t>
            </a:r>
            <a:r>
              <a:rPr sz="1800" b="1" spc="-60" dirty="0">
                <a:solidFill>
                  <a:srgbClr val="161616"/>
                </a:solidFill>
                <a:latin typeface="Tahoma"/>
                <a:cs typeface="Tahoma"/>
              </a:rPr>
              <a:t>data</a:t>
            </a:r>
            <a:r>
              <a:rPr sz="1800" b="1" spc="-40" dirty="0">
                <a:solidFill>
                  <a:srgbClr val="161616"/>
                </a:solidFill>
                <a:latin typeface="Tahoma"/>
                <a:cs typeface="Tahoma"/>
              </a:rPr>
              <a:t> </a:t>
            </a:r>
            <a:r>
              <a:rPr sz="1800" b="1" spc="-50" dirty="0">
                <a:solidFill>
                  <a:srgbClr val="161616"/>
                </a:solidFill>
                <a:latin typeface="Tahoma"/>
                <a:cs typeface="Tahoma"/>
              </a:rPr>
              <a:t>security </a:t>
            </a:r>
            <a:r>
              <a:rPr sz="1800" b="1" spc="-10" dirty="0">
                <a:solidFill>
                  <a:srgbClr val="161616"/>
                </a:solidFill>
                <a:latin typeface="Tahoma"/>
                <a:cs typeface="Tahoma"/>
              </a:rPr>
              <a:t>Encryption</a:t>
            </a:r>
            <a:endParaRPr sz="1800">
              <a:latin typeface="Tahoma"/>
              <a:cs typeface="Tahoma"/>
            </a:endParaRPr>
          </a:p>
          <a:p>
            <a:pPr marL="12700" marR="139700">
              <a:lnSpc>
                <a:spcPct val="100099"/>
              </a:lnSpc>
              <a:spcBef>
                <a:spcPts val="15"/>
              </a:spcBef>
            </a:pPr>
            <a:r>
              <a:rPr sz="1800" spc="-105" dirty="0">
                <a:solidFill>
                  <a:srgbClr val="161616"/>
                </a:solidFill>
                <a:latin typeface="Verdana"/>
                <a:cs typeface="Verdana"/>
              </a:rPr>
              <a:t>Using</a:t>
            </a:r>
            <a:r>
              <a:rPr sz="1800" spc="-18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161616"/>
                </a:solidFill>
                <a:latin typeface="Verdana"/>
                <a:cs typeface="Verdana"/>
              </a:rPr>
              <a:t>an</a:t>
            </a:r>
            <a:r>
              <a:rPr sz="1800" spc="-18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161616"/>
                </a:solidFill>
                <a:latin typeface="Verdana"/>
                <a:cs typeface="Verdana"/>
              </a:rPr>
              <a:t>algorithm</a:t>
            </a:r>
            <a:r>
              <a:rPr sz="1800" spc="-204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161616"/>
                </a:solidFill>
                <a:latin typeface="Verdana"/>
                <a:cs typeface="Verdana"/>
              </a:rPr>
              <a:t>to</a:t>
            </a:r>
            <a:r>
              <a:rPr sz="1800" spc="-16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161616"/>
                </a:solidFill>
                <a:latin typeface="Verdana"/>
                <a:cs typeface="Verdana"/>
              </a:rPr>
              <a:t>transform</a:t>
            </a:r>
            <a:r>
              <a:rPr sz="1800" spc="-204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161616"/>
                </a:solidFill>
                <a:latin typeface="Verdana"/>
                <a:cs typeface="Verdana"/>
              </a:rPr>
              <a:t>normal</a:t>
            </a:r>
            <a:r>
              <a:rPr sz="1800" spc="-16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61616"/>
                </a:solidFill>
                <a:latin typeface="Verdana"/>
                <a:cs typeface="Verdana"/>
              </a:rPr>
              <a:t>text </a:t>
            </a:r>
            <a:r>
              <a:rPr sz="1800" spc="-95" dirty="0">
                <a:solidFill>
                  <a:srgbClr val="161616"/>
                </a:solidFill>
                <a:latin typeface="Verdana"/>
                <a:cs typeface="Verdana"/>
              </a:rPr>
              <a:t>characters</a:t>
            </a:r>
            <a:r>
              <a:rPr sz="1800" spc="-19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161616"/>
                </a:solidFill>
                <a:latin typeface="Verdana"/>
                <a:cs typeface="Verdana"/>
              </a:rPr>
              <a:t>into</a:t>
            </a:r>
            <a:r>
              <a:rPr sz="1800" spc="-16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161616"/>
                </a:solidFill>
                <a:latin typeface="Verdana"/>
                <a:cs typeface="Verdana"/>
              </a:rPr>
              <a:t>an</a:t>
            </a:r>
            <a:r>
              <a:rPr sz="1800" spc="-105" dirty="0">
                <a:solidFill>
                  <a:srgbClr val="161616"/>
                </a:solidFill>
                <a:latin typeface="Verdana"/>
                <a:cs typeface="Verdana"/>
              </a:rPr>
              <a:t> unreadable</a:t>
            </a:r>
            <a:r>
              <a:rPr sz="1800" spc="-14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161616"/>
                </a:solidFill>
                <a:latin typeface="Verdana"/>
                <a:cs typeface="Verdana"/>
              </a:rPr>
              <a:t>format,</a:t>
            </a:r>
            <a:r>
              <a:rPr sz="1800" spc="-9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161616"/>
                </a:solidFill>
                <a:latin typeface="Verdana"/>
                <a:cs typeface="Verdana"/>
              </a:rPr>
              <a:t>encryption </a:t>
            </a:r>
            <a:r>
              <a:rPr sz="1800" spc="-114" dirty="0">
                <a:solidFill>
                  <a:srgbClr val="161616"/>
                </a:solidFill>
                <a:latin typeface="Verdana"/>
                <a:cs typeface="Verdana"/>
              </a:rPr>
              <a:t>keys</a:t>
            </a:r>
            <a:r>
              <a:rPr sz="1800" spc="-21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161616"/>
                </a:solidFill>
                <a:latin typeface="Verdana"/>
                <a:cs typeface="Verdana"/>
              </a:rPr>
              <a:t>scramble</a:t>
            </a:r>
            <a:r>
              <a:rPr sz="1800" spc="-17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161616"/>
                </a:solidFill>
                <a:latin typeface="Verdana"/>
                <a:cs typeface="Verdana"/>
              </a:rPr>
              <a:t>data</a:t>
            </a:r>
            <a:r>
              <a:rPr sz="1800" spc="-14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161616"/>
                </a:solidFill>
                <a:latin typeface="Verdana"/>
                <a:cs typeface="Verdana"/>
              </a:rPr>
              <a:t>so</a:t>
            </a:r>
            <a:r>
              <a:rPr sz="1800" spc="-114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161616"/>
                </a:solidFill>
                <a:latin typeface="Verdana"/>
                <a:cs typeface="Verdana"/>
              </a:rPr>
              <a:t>that</a:t>
            </a:r>
            <a:r>
              <a:rPr sz="1800" spc="-19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161616"/>
                </a:solidFill>
                <a:latin typeface="Verdana"/>
                <a:cs typeface="Verdana"/>
              </a:rPr>
              <a:t>only</a:t>
            </a:r>
            <a:r>
              <a:rPr sz="1800" spc="-15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161616"/>
                </a:solidFill>
                <a:latin typeface="Verdana"/>
                <a:cs typeface="Verdana"/>
              </a:rPr>
              <a:t>authorized</a:t>
            </a:r>
            <a:r>
              <a:rPr sz="1800" spc="-15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161616"/>
                </a:solidFill>
                <a:latin typeface="Verdana"/>
                <a:cs typeface="Verdana"/>
              </a:rPr>
              <a:t>users </a:t>
            </a:r>
            <a:r>
              <a:rPr sz="1800" spc="-95" dirty="0">
                <a:solidFill>
                  <a:srgbClr val="161616"/>
                </a:solidFill>
                <a:latin typeface="Verdana"/>
                <a:cs typeface="Verdana"/>
              </a:rPr>
              <a:t>can</a:t>
            </a:r>
            <a:r>
              <a:rPr sz="1800" spc="-204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161616"/>
                </a:solidFill>
                <a:latin typeface="Verdana"/>
                <a:cs typeface="Verdana"/>
              </a:rPr>
              <a:t>read</a:t>
            </a:r>
            <a:r>
              <a:rPr sz="1800" spc="-14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161616"/>
                </a:solidFill>
                <a:latin typeface="Verdana"/>
                <a:cs typeface="Verdana"/>
              </a:rPr>
              <a:t>it.</a:t>
            </a:r>
            <a:r>
              <a:rPr sz="1800" spc="-18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u="sng" spc="-5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File</a:t>
            </a:r>
            <a:r>
              <a:rPr sz="1800" u="sng" spc="-16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 </a:t>
            </a:r>
            <a:r>
              <a:rPr sz="1800" u="sng" spc="-13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and</a:t>
            </a:r>
            <a:r>
              <a:rPr sz="1800" u="sng" spc="-15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 </a:t>
            </a:r>
            <a:r>
              <a:rPr sz="1800" u="sng" spc="-10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database</a:t>
            </a:r>
            <a:r>
              <a:rPr sz="1800" u="sng" spc="-25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encryption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u="sng" spc="-8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solutions</a:t>
            </a:r>
            <a:r>
              <a:rPr sz="1800" spc="-190" dirty="0"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161616"/>
                </a:solidFill>
                <a:latin typeface="Verdana"/>
                <a:cs typeface="Verdana"/>
              </a:rPr>
              <a:t>serve</a:t>
            </a:r>
            <a:r>
              <a:rPr sz="1800" spc="-24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161616"/>
                </a:solidFill>
                <a:latin typeface="Verdana"/>
                <a:cs typeface="Verdana"/>
              </a:rPr>
              <a:t>as</a:t>
            </a:r>
            <a:r>
              <a:rPr sz="1800" spc="-13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161616"/>
                </a:solidFill>
                <a:latin typeface="Verdana"/>
                <a:cs typeface="Verdana"/>
              </a:rPr>
              <a:t>a</a:t>
            </a:r>
            <a:r>
              <a:rPr sz="1800" spc="-22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161616"/>
                </a:solidFill>
                <a:latin typeface="Verdana"/>
                <a:cs typeface="Verdana"/>
              </a:rPr>
              <a:t>final</a:t>
            </a:r>
            <a:r>
              <a:rPr sz="1800" spc="-114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161616"/>
                </a:solidFill>
                <a:latin typeface="Verdana"/>
                <a:cs typeface="Verdana"/>
              </a:rPr>
              <a:t>line</a:t>
            </a:r>
            <a:r>
              <a:rPr sz="1800" spc="-17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161616"/>
                </a:solidFill>
                <a:latin typeface="Verdana"/>
                <a:cs typeface="Verdana"/>
              </a:rPr>
              <a:t>of</a:t>
            </a:r>
            <a:r>
              <a:rPr sz="1800" spc="-13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161616"/>
                </a:solidFill>
                <a:latin typeface="Verdana"/>
                <a:cs typeface="Verdana"/>
              </a:rPr>
              <a:t>defense</a:t>
            </a:r>
            <a:r>
              <a:rPr sz="1800" spc="-22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161616"/>
                </a:solidFill>
                <a:latin typeface="Verdana"/>
                <a:cs typeface="Verdana"/>
              </a:rPr>
              <a:t>for </a:t>
            </a:r>
            <a:r>
              <a:rPr sz="1800" spc="-90" dirty="0">
                <a:solidFill>
                  <a:srgbClr val="161616"/>
                </a:solidFill>
                <a:latin typeface="Verdana"/>
                <a:cs typeface="Verdana"/>
              </a:rPr>
              <a:t>sensitive</a:t>
            </a:r>
            <a:r>
              <a:rPr sz="1800" spc="-229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161616"/>
                </a:solidFill>
                <a:latin typeface="Verdana"/>
                <a:cs typeface="Verdana"/>
              </a:rPr>
              <a:t>volumes</a:t>
            </a:r>
            <a:r>
              <a:rPr sz="1800" spc="-19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161616"/>
                </a:solidFill>
                <a:latin typeface="Verdana"/>
                <a:cs typeface="Verdana"/>
              </a:rPr>
              <a:t>by</a:t>
            </a:r>
            <a:r>
              <a:rPr sz="1800" spc="-13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161616"/>
                </a:solidFill>
                <a:latin typeface="Verdana"/>
                <a:cs typeface="Verdana"/>
              </a:rPr>
              <a:t>obscuring </a:t>
            </a:r>
            <a:r>
              <a:rPr sz="1800" spc="-100" dirty="0">
                <a:solidFill>
                  <a:srgbClr val="161616"/>
                </a:solidFill>
                <a:latin typeface="Verdana"/>
                <a:cs typeface="Verdana"/>
              </a:rPr>
              <a:t>their</a:t>
            </a:r>
            <a:r>
              <a:rPr sz="1800" spc="-114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161616"/>
                </a:solidFill>
                <a:latin typeface="Verdana"/>
                <a:cs typeface="Verdana"/>
              </a:rPr>
              <a:t>contents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99100"/>
              </a:lnSpc>
              <a:spcBef>
                <a:spcPts val="35"/>
              </a:spcBef>
            </a:pPr>
            <a:r>
              <a:rPr sz="1800" spc="-120" dirty="0">
                <a:solidFill>
                  <a:srgbClr val="161616"/>
                </a:solidFill>
                <a:latin typeface="Verdana"/>
                <a:cs typeface="Verdana"/>
              </a:rPr>
              <a:t>through</a:t>
            </a:r>
            <a:r>
              <a:rPr sz="1800" spc="-18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161616"/>
                </a:solidFill>
                <a:latin typeface="Verdana"/>
                <a:cs typeface="Verdana"/>
              </a:rPr>
              <a:t>encryption</a:t>
            </a:r>
            <a:r>
              <a:rPr sz="1800" spc="-18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161616"/>
                </a:solidFill>
                <a:latin typeface="Verdana"/>
                <a:cs typeface="Verdana"/>
              </a:rPr>
              <a:t>or</a:t>
            </a:r>
            <a:r>
              <a:rPr sz="1800" spc="-19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161616"/>
                </a:solidFill>
                <a:latin typeface="Verdana"/>
                <a:cs typeface="Verdana"/>
              </a:rPr>
              <a:t>tokenization.</a:t>
            </a:r>
            <a:r>
              <a:rPr sz="1800" spc="-95" dirty="0">
                <a:solidFill>
                  <a:srgbClr val="161616"/>
                </a:solidFill>
                <a:latin typeface="Verdana"/>
                <a:cs typeface="Verdana"/>
              </a:rPr>
              <a:t> Most</a:t>
            </a:r>
            <a:r>
              <a:rPr sz="1800" spc="-16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161616"/>
                </a:solidFill>
                <a:latin typeface="Verdana"/>
                <a:cs typeface="Verdana"/>
              </a:rPr>
              <a:t>solutions </a:t>
            </a:r>
            <a:r>
              <a:rPr sz="1800" spc="-80" dirty="0">
                <a:solidFill>
                  <a:srgbClr val="161616"/>
                </a:solidFill>
                <a:latin typeface="Verdana"/>
                <a:cs typeface="Verdana"/>
              </a:rPr>
              <a:t>also</a:t>
            </a:r>
            <a:r>
              <a:rPr sz="1800" spc="-18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161616"/>
                </a:solidFill>
                <a:latin typeface="Verdana"/>
                <a:cs typeface="Verdana"/>
              </a:rPr>
              <a:t>include</a:t>
            </a:r>
            <a:r>
              <a:rPr sz="1800" spc="-15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161616"/>
                </a:solidFill>
                <a:latin typeface="Verdana"/>
                <a:cs typeface="Verdana"/>
              </a:rPr>
              <a:t>security</a:t>
            </a:r>
            <a:r>
              <a:rPr sz="1800" spc="-22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161616"/>
                </a:solidFill>
                <a:latin typeface="Verdana"/>
                <a:cs typeface="Verdana"/>
              </a:rPr>
              <a:t>key</a:t>
            </a:r>
            <a:r>
              <a:rPr sz="1800" spc="-14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161616"/>
                </a:solidFill>
                <a:latin typeface="Verdana"/>
                <a:cs typeface="Verdana"/>
              </a:rPr>
              <a:t>management </a:t>
            </a:r>
            <a:r>
              <a:rPr sz="1800" spc="-10" dirty="0">
                <a:solidFill>
                  <a:srgbClr val="161616"/>
                </a:solidFill>
                <a:latin typeface="Verdana"/>
                <a:cs typeface="Verdana"/>
              </a:rPr>
              <a:t>capabilities.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53760" y="6609142"/>
            <a:ext cx="117729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Big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587057" y="4759261"/>
            <a:ext cx="479806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0" dirty="0">
                <a:solidFill>
                  <a:srgbClr val="161616"/>
                </a:solidFill>
                <a:latin typeface="Tahoma"/>
                <a:cs typeface="Tahoma"/>
              </a:rPr>
              <a:t>Data</a:t>
            </a:r>
            <a:r>
              <a:rPr sz="1800" b="1" spc="-110" dirty="0">
                <a:solidFill>
                  <a:srgbClr val="161616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161616"/>
                </a:solidFill>
                <a:latin typeface="Tahoma"/>
                <a:cs typeface="Tahoma"/>
              </a:rPr>
              <a:t>erasure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99700"/>
              </a:lnSpc>
              <a:spcBef>
                <a:spcPts val="25"/>
              </a:spcBef>
            </a:pPr>
            <a:r>
              <a:rPr sz="1800" spc="-90" dirty="0">
                <a:solidFill>
                  <a:srgbClr val="161616"/>
                </a:solidFill>
                <a:latin typeface="Verdana"/>
                <a:cs typeface="Verdana"/>
              </a:rPr>
              <a:t>More</a:t>
            </a:r>
            <a:r>
              <a:rPr sz="1800" spc="-16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161616"/>
                </a:solidFill>
                <a:latin typeface="Verdana"/>
                <a:cs typeface="Verdana"/>
              </a:rPr>
              <a:t>secure</a:t>
            </a:r>
            <a:r>
              <a:rPr sz="1800" spc="-15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161616"/>
                </a:solidFill>
                <a:latin typeface="Verdana"/>
                <a:cs typeface="Verdana"/>
              </a:rPr>
              <a:t>than</a:t>
            </a:r>
            <a:r>
              <a:rPr sz="1800" spc="-19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161616"/>
                </a:solidFill>
                <a:latin typeface="Verdana"/>
                <a:cs typeface="Verdana"/>
              </a:rPr>
              <a:t>standard</a:t>
            </a:r>
            <a:r>
              <a:rPr sz="1800" spc="-22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161616"/>
                </a:solidFill>
                <a:latin typeface="Verdana"/>
                <a:cs typeface="Verdana"/>
              </a:rPr>
              <a:t>data</a:t>
            </a:r>
            <a:r>
              <a:rPr sz="1800" spc="-21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161616"/>
                </a:solidFill>
                <a:latin typeface="Verdana"/>
                <a:cs typeface="Verdana"/>
              </a:rPr>
              <a:t>wiping,</a:t>
            </a:r>
            <a:r>
              <a:rPr sz="1800" spc="-18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61616"/>
                </a:solidFill>
                <a:latin typeface="Verdana"/>
                <a:cs typeface="Verdana"/>
              </a:rPr>
              <a:t>data </a:t>
            </a:r>
            <a:r>
              <a:rPr sz="1800" spc="-105" dirty="0">
                <a:solidFill>
                  <a:srgbClr val="161616"/>
                </a:solidFill>
                <a:latin typeface="Verdana"/>
                <a:cs typeface="Verdana"/>
              </a:rPr>
              <a:t>erasure</a:t>
            </a:r>
            <a:r>
              <a:rPr sz="1800" spc="-15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161616"/>
                </a:solidFill>
                <a:latin typeface="Verdana"/>
                <a:cs typeface="Verdana"/>
              </a:rPr>
              <a:t>uses</a:t>
            </a:r>
            <a:r>
              <a:rPr sz="1800" spc="-114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161616"/>
                </a:solidFill>
                <a:latin typeface="Verdana"/>
                <a:cs typeface="Verdana"/>
              </a:rPr>
              <a:t>software</a:t>
            </a:r>
            <a:r>
              <a:rPr sz="1800" spc="-15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161616"/>
                </a:solidFill>
                <a:latin typeface="Verdana"/>
                <a:cs typeface="Verdana"/>
              </a:rPr>
              <a:t>to</a:t>
            </a:r>
            <a:r>
              <a:rPr sz="1800" spc="-17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161616"/>
                </a:solidFill>
                <a:latin typeface="Verdana"/>
                <a:cs typeface="Verdana"/>
              </a:rPr>
              <a:t>completely</a:t>
            </a:r>
            <a:r>
              <a:rPr sz="1800" spc="-13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161616"/>
                </a:solidFill>
                <a:latin typeface="Verdana"/>
                <a:cs typeface="Verdana"/>
              </a:rPr>
              <a:t>overwrite </a:t>
            </a:r>
            <a:r>
              <a:rPr sz="1800" spc="-114" dirty="0">
                <a:solidFill>
                  <a:srgbClr val="161616"/>
                </a:solidFill>
                <a:latin typeface="Verdana"/>
                <a:cs typeface="Verdana"/>
              </a:rPr>
              <a:t>data</a:t>
            </a:r>
            <a:r>
              <a:rPr sz="1800" spc="-13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161616"/>
                </a:solidFill>
                <a:latin typeface="Verdana"/>
                <a:cs typeface="Verdana"/>
              </a:rPr>
              <a:t>on</a:t>
            </a:r>
            <a:r>
              <a:rPr sz="1800" spc="-12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161616"/>
                </a:solidFill>
                <a:latin typeface="Verdana"/>
                <a:cs typeface="Verdana"/>
              </a:rPr>
              <a:t>any</a:t>
            </a:r>
            <a:r>
              <a:rPr sz="1800" spc="-14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161616"/>
                </a:solidFill>
                <a:latin typeface="Verdana"/>
                <a:cs typeface="Verdana"/>
              </a:rPr>
              <a:t>storage</a:t>
            </a:r>
            <a:r>
              <a:rPr sz="1800" spc="-16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161616"/>
                </a:solidFill>
                <a:latin typeface="Verdana"/>
                <a:cs typeface="Verdana"/>
              </a:rPr>
              <a:t>device.</a:t>
            </a:r>
            <a:r>
              <a:rPr sz="1800" spc="-18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161616"/>
                </a:solidFill>
                <a:latin typeface="Verdana"/>
                <a:cs typeface="Verdana"/>
              </a:rPr>
              <a:t>It</a:t>
            </a:r>
            <a:r>
              <a:rPr sz="1800" spc="-18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161616"/>
                </a:solidFill>
                <a:latin typeface="Verdana"/>
                <a:cs typeface="Verdana"/>
              </a:rPr>
              <a:t>verifies</a:t>
            </a:r>
            <a:r>
              <a:rPr sz="1800" spc="-204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161616"/>
                </a:solidFill>
                <a:latin typeface="Verdana"/>
                <a:cs typeface="Verdana"/>
              </a:rPr>
              <a:t>that</a:t>
            </a:r>
            <a:r>
              <a:rPr sz="1800" spc="-18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161616"/>
                </a:solidFill>
                <a:latin typeface="Verdana"/>
                <a:cs typeface="Verdana"/>
              </a:rPr>
              <a:t>the </a:t>
            </a:r>
            <a:r>
              <a:rPr sz="1800" spc="-114" dirty="0">
                <a:solidFill>
                  <a:srgbClr val="161616"/>
                </a:solidFill>
                <a:latin typeface="Verdana"/>
                <a:cs typeface="Verdana"/>
              </a:rPr>
              <a:t>data</a:t>
            </a:r>
            <a:r>
              <a:rPr sz="1800" spc="-15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161616"/>
                </a:solidFill>
                <a:latin typeface="Verdana"/>
                <a:cs typeface="Verdana"/>
              </a:rPr>
              <a:t>is</a:t>
            </a:r>
            <a:r>
              <a:rPr sz="1800" spc="-21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61616"/>
                </a:solidFill>
                <a:latin typeface="Verdana"/>
                <a:cs typeface="Verdana"/>
              </a:rPr>
              <a:t>unrecoverable.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79439" y="1325562"/>
            <a:ext cx="5187950" cy="167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5" dirty="0">
                <a:solidFill>
                  <a:srgbClr val="161616"/>
                </a:solidFill>
                <a:latin typeface="Tahoma"/>
                <a:cs typeface="Tahoma"/>
              </a:rPr>
              <a:t>Data</a:t>
            </a:r>
            <a:r>
              <a:rPr sz="1800" b="1" spc="-95" dirty="0">
                <a:solidFill>
                  <a:srgbClr val="161616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161616"/>
                </a:solidFill>
                <a:latin typeface="Tahoma"/>
                <a:cs typeface="Tahoma"/>
              </a:rPr>
              <a:t>masking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sz="1800" spc="-114" dirty="0">
                <a:solidFill>
                  <a:srgbClr val="161616"/>
                </a:solidFill>
                <a:latin typeface="Verdana"/>
                <a:cs typeface="Verdana"/>
              </a:rPr>
              <a:t>By</a:t>
            </a:r>
            <a:r>
              <a:rPr sz="1800" spc="-22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161616"/>
                </a:solidFill>
                <a:latin typeface="Verdana"/>
                <a:cs typeface="Verdana"/>
              </a:rPr>
              <a:t>masking</a:t>
            </a:r>
            <a:r>
              <a:rPr sz="1800" spc="-114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161616"/>
                </a:solidFill>
                <a:latin typeface="Verdana"/>
                <a:cs typeface="Verdana"/>
              </a:rPr>
              <a:t>data,</a:t>
            </a:r>
            <a:r>
              <a:rPr sz="1800" spc="-18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161616"/>
                </a:solidFill>
                <a:latin typeface="Verdana"/>
                <a:cs typeface="Verdana"/>
              </a:rPr>
              <a:t>organizations</a:t>
            </a:r>
            <a:r>
              <a:rPr sz="1800" spc="-19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161616"/>
                </a:solidFill>
                <a:latin typeface="Verdana"/>
                <a:cs typeface="Verdana"/>
              </a:rPr>
              <a:t>can</a:t>
            </a:r>
            <a:r>
              <a:rPr sz="1800" spc="-10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161616"/>
                </a:solidFill>
                <a:latin typeface="Verdana"/>
                <a:cs typeface="Verdana"/>
              </a:rPr>
              <a:t>allow</a:t>
            </a:r>
            <a:r>
              <a:rPr sz="1800" spc="-17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161616"/>
                </a:solidFill>
                <a:latin typeface="Verdana"/>
                <a:cs typeface="Verdana"/>
              </a:rPr>
              <a:t>teams</a:t>
            </a:r>
            <a:r>
              <a:rPr sz="1800" spc="-19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161616"/>
                </a:solidFill>
                <a:latin typeface="Verdana"/>
                <a:cs typeface="Verdana"/>
              </a:rPr>
              <a:t>to </a:t>
            </a:r>
            <a:r>
              <a:rPr sz="1800" spc="-100" dirty="0">
                <a:solidFill>
                  <a:srgbClr val="161616"/>
                </a:solidFill>
                <a:latin typeface="Verdana"/>
                <a:cs typeface="Verdana"/>
              </a:rPr>
              <a:t>develop</a:t>
            </a:r>
            <a:r>
              <a:rPr sz="1800" spc="-14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161616"/>
                </a:solidFill>
                <a:latin typeface="Verdana"/>
                <a:cs typeface="Verdana"/>
              </a:rPr>
              <a:t>applications</a:t>
            </a:r>
            <a:r>
              <a:rPr sz="1800" spc="-19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161616"/>
                </a:solidFill>
                <a:latin typeface="Verdana"/>
                <a:cs typeface="Verdana"/>
              </a:rPr>
              <a:t>or</a:t>
            </a:r>
            <a:r>
              <a:rPr sz="1800" spc="-21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161616"/>
                </a:solidFill>
                <a:latin typeface="Verdana"/>
                <a:cs typeface="Verdana"/>
              </a:rPr>
              <a:t>train</a:t>
            </a:r>
            <a:r>
              <a:rPr sz="1800" spc="-114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161616"/>
                </a:solidFill>
                <a:latin typeface="Verdana"/>
                <a:cs typeface="Verdana"/>
              </a:rPr>
              <a:t>people</a:t>
            </a:r>
            <a:r>
              <a:rPr sz="1800" spc="-15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161616"/>
                </a:solidFill>
                <a:latin typeface="Verdana"/>
                <a:cs typeface="Verdana"/>
              </a:rPr>
              <a:t>using</a:t>
            </a:r>
            <a:r>
              <a:rPr sz="1800" spc="-19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61616"/>
                </a:solidFill>
                <a:latin typeface="Verdana"/>
                <a:cs typeface="Verdana"/>
              </a:rPr>
              <a:t>real </a:t>
            </a:r>
            <a:r>
              <a:rPr sz="1800" spc="-125" dirty="0">
                <a:solidFill>
                  <a:srgbClr val="161616"/>
                </a:solidFill>
                <a:latin typeface="Verdana"/>
                <a:cs typeface="Verdana"/>
              </a:rPr>
              <a:t>data.</a:t>
            </a:r>
            <a:r>
              <a:rPr sz="1800" spc="-18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161616"/>
                </a:solidFill>
                <a:latin typeface="Verdana"/>
                <a:cs typeface="Verdana"/>
              </a:rPr>
              <a:t>It</a:t>
            </a:r>
            <a:r>
              <a:rPr sz="1800" spc="-17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161616"/>
                </a:solidFill>
                <a:latin typeface="Verdana"/>
                <a:cs typeface="Verdana"/>
              </a:rPr>
              <a:t>masks</a:t>
            </a:r>
            <a:r>
              <a:rPr sz="1800" spc="-10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161616"/>
                </a:solidFill>
                <a:latin typeface="Verdana"/>
                <a:cs typeface="Verdana"/>
              </a:rPr>
              <a:t>personally</a:t>
            </a:r>
            <a:r>
              <a:rPr sz="1800" spc="-12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161616"/>
                </a:solidFill>
                <a:latin typeface="Verdana"/>
                <a:cs typeface="Verdana"/>
              </a:rPr>
              <a:t>identifiable</a:t>
            </a:r>
            <a:r>
              <a:rPr sz="1800" spc="-229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161616"/>
                </a:solidFill>
                <a:latin typeface="Verdana"/>
                <a:cs typeface="Verdana"/>
              </a:rPr>
              <a:t>information </a:t>
            </a:r>
            <a:r>
              <a:rPr sz="1800" spc="-110" dirty="0">
                <a:solidFill>
                  <a:srgbClr val="161616"/>
                </a:solidFill>
                <a:latin typeface="Verdana"/>
                <a:cs typeface="Verdana"/>
              </a:rPr>
              <a:t>(PII)</a:t>
            </a:r>
            <a:r>
              <a:rPr sz="1800" spc="-15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161616"/>
                </a:solidFill>
                <a:latin typeface="Verdana"/>
                <a:cs typeface="Verdana"/>
              </a:rPr>
              <a:t>where</a:t>
            </a:r>
            <a:r>
              <a:rPr sz="1800" spc="-16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161616"/>
                </a:solidFill>
                <a:latin typeface="Verdana"/>
                <a:cs typeface="Verdana"/>
              </a:rPr>
              <a:t>necessary</a:t>
            </a:r>
            <a:r>
              <a:rPr sz="1800" spc="-22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161616"/>
                </a:solidFill>
                <a:latin typeface="Verdana"/>
                <a:cs typeface="Verdana"/>
              </a:rPr>
              <a:t>so</a:t>
            </a:r>
            <a:r>
              <a:rPr sz="1800" spc="-18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161616"/>
                </a:solidFill>
                <a:latin typeface="Verdana"/>
                <a:cs typeface="Verdana"/>
              </a:rPr>
              <a:t>that</a:t>
            </a:r>
            <a:r>
              <a:rPr sz="1800" spc="-18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161616"/>
                </a:solidFill>
                <a:latin typeface="Verdana"/>
                <a:cs typeface="Verdana"/>
              </a:rPr>
              <a:t>development</a:t>
            </a:r>
            <a:r>
              <a:rPr sz="1800" spc="-18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161616"/>
                </a:solidFill>
                <a:latin typeface="Verdana"/>
                <a:cs typeface="Verdana"/>
              </a:rPr>
              <a:t>can </a:t>
            </a:r>
            <a:r>
              <a:rPr sz="1800" spc="-90" dirty="0">
                <a:solidFill>
                  <a:srgbClr val="161616"/>
                </a:solidFill>
                <a:latin typeface="Verdana"/>
                <a:cs typeface="Verdana"/>
              </a:rPr>
              <a:t>occur</a:t>
            </a:r>
            <a:r>
              <a:rPr sz="1800" spc="-14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161616"/>
                </a:solidFill>
                <a:latin typeface="Verdana"/>
                <a:cs typeface="Verdana"/>
              </a:rPr>
              <a:t>in</a:t>
            </a:r>
            <a:r>
              <a:rPr sz="1800" spc="-20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161616"/>
                </a:solidFill>
                <a:latin typeface="Verdana"/>
                <a:cs typeface="Verdana"/>
              </a:rPr>
              <a:t>environments</a:t>
            </a:r>
            <a:r>
              <a:rPr sz="1800" spc="-210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161616"/>
                </a:solidFill>
                <a:latin typeface="Verdana"/>
                <a:cs typeface="Verdana"/>
              </a:rPr>
              <a:t>that </a:t>
            </a:r>
            <a:r>
              <a:rPr sz="1800" spc="-130" dirty="0">
                <a:solidFill>
                  <a:srgbClr val="161616"/>
                </a:solidFill>
                <a:latin typeface="Verdana"/>
                <a:cs typeface="Verdana"/>
              </a:rPr>
              <a:t>are</a:t>
            </a:r>
            <a:r>
              <a:rPr sz="1800" spc="-165" dirty="0">
                <a:solidFill>
                  <a:srgbClr val="161616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161616"/>
                </a:solidFill>
                <a:latin typeface="Verdana"/>
                <a:cs typeface="Verdana"/>
              </a:rPr>
              <a:t>compliant.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79439" y="3242627"/>
            <a:ext cx="5166995" cy="167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Data</a:t>
            </a:r>
            <a:r>
              <a:rPr sz="1800" b="1" spc="-10" dirty="0">
                <a:latin typeface="Calibri"/>
                <a:cs typeface="Calibri"/>
              </a:rPr>
              <a:t> resiliency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Calibri"/>
                <a:cs typeface="Calibri"/>
              </a:rPr>
              <a:t>Resiliency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determined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well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organization </a:t>
            </a:r>
            <a:r>
              <a:rPr sz="1800" dirty="0">
                <a:latin typeface="Calibri"/>
                <a:cs typeface="Calibri"/>
              </a:rPr>
              <a:t>endures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recovers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 any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failure—</a:t>
            </a:r>
            <a:r>
              <a:rPr sz="1800" spc="-20" dirty="0">
                <a:latin typeface="Calibri"/>
                <a:cs typeface="Calibri"/>
              </a:rPr>
              <a:t>from </a:t>
            </a:r>
            <a:r>
              <a:rPr sz="1800" dirty="0">
                <a:latin typeface="Calibri"/>
                <a:cs typeface="Calibri"/>
              </a:rPr>
              <a:t>hardware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problems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power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shortages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other </a:t>
            </a:r>
            <a:r>
              <a:rPr sz="1800" dirty="0">
                <a:latin typeface="Calibri"/>
                <a:cs typeface="Calibri"/>
              </a:rPr>
              <a:t>events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affect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4"/>
              </a:rPr>
              <a:t>data</a:t>
            </a:r>
            <a:r>
              <a:rPr sz="18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4"/>
              </a:rPr>
              <a:t>availability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recovery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critical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minimize </a:t>
            </a:r>
            <a:r>
              <a:rPr sz="1800" spc="-10" dirty="0">
                <a:latin typeface="Calibri"/>
                <a:cs typeface="Calibri"/>
              </a:rPr>
              <a:t>impact.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05" y="390196"/>
            <a:ext cx="4472090" cy="3005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055" y="1037896"/>
            <a:ext cx="4519715" cy="30056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3730" y="1557718"/>
            <a:ext cx="5517515" cy="1904364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880"/>
              </a:spcBef>
              <a:buClr>
                <a:srgbClr val="877D6D"/>
              </a:buClr>
              <a:buFont typeface="Arial MT"/>
              <a:buChar char="•"/>
              <a:tabLst>
                <a:tab pos="193675" algn="l"/>
              </a:tabLst>
            </a:pPr>
            <a:r>
              <a:rPr sz="2600" dirty="0">
                <a:latin typeface="Arial MT"/>
                <a:cs typeface="Arial MT"/>
              </a:rPr>
              <a:t>Louis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Brandeis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(1890)</a:t>
            </a:r>
            <a:endParaRPr sz="2600">
              <a:latin typeface="Arial MT"/>
              <a:cs typeface="Arial MT"/>
            </a:endParaRPr>
          </a:p>
          <a:p>
            <a:pPr marL="336550">
              <a:lnSpc>
                <a:spcPct val="100000"/>
              </a:lnSpc>
              <a:spcBef>
                <a:spcPts val="785"/>
              </a:spcBef>
            </a:pPr>
            <a:r>
              <a:rPr sz="2600" dirty="0">
                <a:solidFill>
                  <a:srgbClr val="877D6D"/>
                </a:solidFill>
                <a:latin typeface="Arial MT"/>
                <a:cs typeface="Arial MT"/>
              </a:rPr>
              <a:t>–</a:t>
            </a:r>
            <a:r>
              <a:rPr sz="2600" dirty="0">
                <a:latin typeface="Arial MT"/>
                <a:cs typeface="Arial MT"/>
              </a:rPr>
              <a:t>“right to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left </a:t>
            </a:r>
            <a:r>
              <a:rPr sz="2600" spc="-10" dirty="0">
                <a:latin typeface="Arial MT"/>
                <a:cs typeface="Arial MT"/>
              </a:rPr>
              <a:t>alone”</a:t>
            </a:r>
            <a:endParaRPr sz="2600">
              <a:latin typeface="Arial MT"/>
              <a:cs typeface="Arial MT"/>
            </a:endParaRPr>
          </a:p>
          <a:p>
            <a:pPr marL="498475" marR="5080" indent="-161925">
              <a:lnSpc>
                <a:spcPts val="3080"/>
              </a:lnSpc>
              <a:spcBef>
                <a:spcPts val="919"/>
              </a:spcBef>
            </a:pPr>
            <a:r>
              <a:rPr sz="2600" dirty="0">
                <a:solidFill>
                  <a:srgbClr val="877D6D"/>
                </a:solidFill>
                <a:latin typeface="Arial MT"/>
                <a:cs typeface="Arial MT"/>
              </a:rPr>
              <a:t>–</a:t>
            </a:r>
            <a:r>
              <a:rPr sz="2600" dirty="0">
                <a:latin typeface="Arial MT"/>
                <a:cs typeface="Arial MT"/>
              </a:rPr>
              <a:t>protection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from</a:t>
            </a:r>
            <a:r>
              <a:rPr sz="2600" spc="-10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institutional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threat: </a:t>
            </a:r>
            <a:r>
              <a:rPr sz="2600" dirty="0">
                <a:latin typeface="Arial MT"/>
                <a:cs typeface="Arial MT"/>
              </a:rPr>
              <a:t>government,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press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29400" y="1524000"/>
            <a:ext cx="1343025" cy="19240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200" y="4152900"/>
            <a:ext cx="1428750" cy="17145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671826" y="3767970"/>
            <a:ext cx="5350510" cy="272923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60"/>
              </a:spcBef>
              <a:buChar char="•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Alan</a:t>
            </a:r>
            <a:r>
              <a:rPr sz="3000" spc="-8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Westin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(1967)</a:t>
            </a:r>
            <a:endParaRPr sz="3000">
              <a:latin typeface="Arial MT"/>
              <a:cs typeface="Arial MT"/>
            </a:endParaRPr>
          </a:p>
          <a:p>
            <a:pPr marL="755650" marR="5080" indent="-285750">
              <a:lnSpc>
                <a:spcPct val="90000"/>
              </a:lnSpc>
              <a:spcBef>
                <a:spcPts val="565"/>
              </a:spcBef>
            </a:pPr>
            <a:r>
              <a:rPr sz="2600" dirty="0">
                <a:latin typeface="Arial MT"/>
                <a:cs typeface="Arial MT"/>
              </a:rPr>
              <a:t>–</a:t>
            </a:r>
            <a:r>
              <a:rPr sz="2600" spc="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“right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control,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edit,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manage,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delete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information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about </a:t>
            </a:r>
            <a:r>
              <a:rPr sz="2600" dirty="0">
                <a:latin typeface="Arial MT"/>
                <a:cs typeface="Arial MT"/>
              </a:rPr>
              <a:t>themselves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decide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when, how,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what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extent </a:t>
            </a:r>
            <a:r>
              <a:rPr sz="2600" dirty="0">
                <a:latin typeface="Arial MT"/>
                <a:cs typeface="Arial MT"/>
              </a:rPr>
              <a:t>information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communicated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to </a:t>
            </a:r>
            <a:r>
              <a:rPr sz="2600" spc="-10" dirty="0">
                <a:latin typeface="Arial MT"/>
                <a:cs typeface="Arial MT"/>
              </a:rPr>
              <a:t>others”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53760" y="6609142"/>
            <a:ext cx="117729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Big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8473693" y="2281491"/>
            <a:ext cx="30905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9800" algn="l"/>
                <a:tab pos="2157730" algn="l"/>
                <a:tab pos="2675255" algn="l"/>
              </a:tabLst>
            </a:pPr>
            <a:r>
              <a:rPr sz="2400" i="1" spc="-20" dirty="0">
                <a:solidFill>
                  <a:srgbClr val="1F2023"/>
                </a:solidFill>
                <a:latin typeface="Calibri"/>
                <a:cs typeface="Calibri"/>
              </a:rPr>
              <a:t>Data</a:t>
            </a:r>
            <a:r>
              <a:rPr sz="2400" i="1" dirty="0">
                <a:solidFill>
                  <a:srgbClr val="1F2023"/>
                </a:solidFill>
                <a:latin typeface="Calibri"/>
                <a:cs typeface="Calibri"/>
              </a:rPr>
              <a:t>	</a:t>
            </a:r>
            <a:r>
              <a:rPr sz="2400" i="1" spc="-10" dirty="0">
                <a:solidFill>
                  <a:srgbClr val="1F2023"/>
                </a:solidFill>
                <a:latin typeface="Calibri"/>
                <a:cs typeface="Calibri"/>
              </a:rPr>
              <a:t>privacy</a:t>
            </a:r>
            <a:r>
              <a:rPr sz="2400" i="1" dirty="0">
                <a:solidFill>
                  <a:srgbClr val="1F2023"/>
                </a:solidFill>
                <a:latin typeface="Calibri"/>
                <a:cs typeface="Calibri"/>
              </a:rPr>
              <a:t>	</a:t>
            </a:r>
            <a:r>
              <a:rPr sz="2400" i="1" spc="-25" dirty="0">
                <a:solidFill>
                  <a:srgbClr val="1F2023"/>
                </a:solidFill>
                <a:latin typeface="Calibri"/>
                <a:cs typeface="Calibri"/>
              </a:rPr>
              <a:t>is</a:t>
            </a:r>
            <a:r>
              <a:rPr sz="2400" i="1" dirty="0">
                <a:solidFill>
                  <a:srgbClr val="1F2023"/>
                </a:solidFill>
                <a:latin typeface="Calibri"/>
                <a:cs typeface="Calibri"/>
              </a:rPr>
              <a:t>	</a:t>
            </a:r>
            <a:r>
              <a:rPr sz="2400" i="1" spc="-25" dirty="0">
                <a:solidFill>
                  <a:srgbClr val="040C28"/>
                </a:solidFill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73693" y="2653728"/>
            <a:ext cx="30956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24635" algn="l"/>
                <a:tab pos="2010410" algn="l"/>
              </a:tabLst>
            </a:pPr>
            <a:r>
              <a:rPr sz="2400" i="1" spc="-10" dirty="0">
                <a:solidFill>
                  <a:srgbClr val="040C28"/>
                </a:solidFill>
                <a:latin typeface="Calibri"/>
                <a:cs typeface="Calibri"/>
              </a:rPr>
              <a:t>protection</a:t>
            </a:r>
            <a:r>
              <a:rPr sz="2400" i="1" dirty="0">
                <a:solidFill>
                  <a:srgbClr val="040C28"/>
                </a:solidFill>
                <a:latin typeface="Calibri"/>
                <a:cs typeface="Calibri"/>
              </a:rPr>
              <a:t>	</a:t>
            </a:r>
            <a:r>
              <a:rPr sz="2400" i="1" spc="-25" dirty="0">
                <a:solidFill>
                  <a:srgbClr val="040C28"/>
                </a:solidFill>
                <a:latin typeface="Calibri"/>
                <a:cs typeface="Calibri"/>
              </a:rPr>
              <a:t>of</a:t>
            </a:r>
            <a:r>
              <a:rPr sz="2400" i="1" dirty="0">
                <a:solidFill>
                  <a:srgbClr val="040C28"/>
                </a:solidFill>
                <a:latin typeface="Calibri"/>
                <a:cs typeface="Calibri"/>
              </a:rPr>
              <a:t>	</a:t>
            </a:r>
            <a:r>
              <a:rPr sz="2400" i="1" spc="-10" dirty="0">
                <a:solidFill>
                  <a:srgbClr val="040C28"/>
                </a:solidFill>
                <a:latin typeface="Calibri"/>
                <a:cs typeface="Calibri"/>
              </a:rPr>
              <a:t>personal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73693" y="3015932"/>
            <a:ext cx="30892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0260" algn="l"/>
                <a:tab pos="1637030" algn="l"/>
                <a:tab pos="2548255" algn="l"/>
              </a:tabLst>
            </a:pPr>
            <a:r>
              <a:rPr sz="2400" i="1" spc="-20" dirty="0">
                <a:solidFill>
                  <a:srgbClr val="040C28"/>
                </a:solidFill>
                <a:latin typeface="Calibri"/>
                <a:cs typeface="Calibri"/>
              </a:rPr>
              <a:t>data</a:t>
            </a:r>
            <a:r>
              <a:rPr sz="2400" i="1" dirty="0">
                <a:solidFill>
                  <a:srgbClr val="040C28"/>
                </a:solidFill>
                <a:latin typeface="Calibri"/>
                <a:cs typeface="Calibri"/>
              </a:rPr>
              <a:t>	</a:t>
            </a:r>
            <a:r>
              <a:rPr sz="2400" i="1" spc="-20" dirty="0">
                <a:solidFill>
                  <a:srgbClr val="040C28"/>
                </a:solidFill>
                <a:latin typeface="Calibri"/>
                <a:cs typeface="Calibri"/>
              </a:rPr>
              <a:t>from</a:t>
            </a:r>
            <a:r>
              <a:rPr sz="2400" i="1" dirty="0">
                <a:solidFill>
                  <a:srgbClr val="040C28"/>
                </a:solidFill>
                <a:latin typeface="Calibri"/>
                <a:cs typeface="Calibri"/>
              </a:rPr>
              <a:t>	</a:t>
            </a:r>
            <a:r>
              <a:rPr sz="2400" i="1" spc="-10" dirty="0">
                <a:solidFill>
                  <a:srgbClr val="040C28"/>
                </a:solidFill>
                <a:latin typeface="Calibri"/>
                <a:cs typeface="Calibri"/>
              </a:rPr>
              <a:t>those</a:t>
            </a:r>
            <a:r>
              <a:rPr sz="2400" i="1" dirty="0">
                <a:solidFill>
                  <a:srgbClr val="040C28"/>
                </a:solidFill>
                <a:latin typeface="Calibri"/>
                <a:cs typeface="Calibri"/>
              </a:rPr>
              <a:t>	</a:t>
            </a:r>
            <a:r>
              <a:rPr sz="2400" i="1" spc="-25" dirty="0">
                <a:solidFill>
                  <a:srgbClr val="040C28"/>
                </a:solidFill>
                <a:latin typeface="Calibri"/>
                <a:cs typeface="Calibri"/>
              </a:rPr>
              <a:t>who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73693" y="3378517"/>
            <a:ext cx="3103245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2400" i="1" dirty="0">
                <a:solidFill>
                  <a:srgbClr val="040C28"/>
                </a:solidFill>
                <a:latin typeface="Calibri"/>
                <a:cs typeface="Calibri"/>
              </a:rPr>
              <a:t>should</a:t>
            </a:r>
            <a:r>
              <a:rPr sz="2400" i="1" spc="585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40C28"/>
                </a:solidFill>
                <a:latin typeface="Calibri"/>
                <a:cs typeface="Calibri"/>
              </a:rPr>
              <a:t>not</a:t>
            </a:r>
            <a:r>
              <a:rPr sz="2400" i="1" spc="550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40C28"/>
                </a:solidFill>
                <a:latin typeface="Calibri"/>
                <a:cs typeface="Calibri"/>
              </a:rPr>
              <a:t>have</a:t>
            </a:r>
            <a:r>
              <a:rPr sz="2400" i="1" spc="585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40C28"/>
                </a:solidFill>
                <a:latin typeface="Calibri"/>
                <a:cs typeface="Calibri"/>
              </a:rPr>
              <a:t>access </a:t>
            </a:r>
            <a:r>
              <a:rPr sz="2400" i="1" dirty="0">
                <a:solidFill>
                  <a:srgbClr val="040C28"/>
                </a:solidFill>
                <a:latin typeface="Calibri"/>
                <a:cs typeface="Calibri"/>
              </a:rPr>
              <a:t>to</a:t>
            </a:r>
            <a:r>
              <a:rPr sz="2400" i="1" spc="35" dirty="0">
                <a:solidFill>
                  <a:srgbClr val="040C28"/>
                </a:solidFill>
                <a:latin typeface="Calibri"/>
                <a:cs typeface="Calibri"/>
              </a:rPr>
              <a:t>  </a:t>
            </a:r>
            <a:r>
              <a:rPr sz="2400" i="1" dirty="0">
                <a:solidFill>
                  <a:srgbClr val="040C28"/>
                </a:solidFill>
                <a:latin typeface="Calibri"/>
                <a:cs typeface="Calibri"/>
              </a:rPr>
              <a:t>it</a:t>
            </a:r>
            <a:r>
              <a:rPr sz="2400" i="1" spc="35" dirty="0">
                <a:solidFill>
                  <a:srgbClr val="040C28"/>
                </a:solidFill>
                <a:latin typeface="Calibri"/>
                <a:cs typeface="Calibri"/>
              </a:rPr>
              <a:t>  </a:t>
            </a:r>
            <a:r>
              <a:rPr sz="2400" i="1" dirty="0">
                <a:solidFill>
                  <a:srgbClr val="040C28"/>
                </a:solidFill>
                <a:latin typeface="Calibri"/>
                <a:cs typeface="Calibri"/>
              </a:rPr>
              <a:t>and</a:t>
            </a:r>
            <a:r>
              <a:rPr sz="2400" i="1" spc="590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40C28"/>
                </a:solidFill>
                <a:latin typeface="Calibri"/>
                <a:cs typeface="Calibri"/>
              </a:rPr>
              <a:t>the</a:t>
            </a:r>
            <a:r>
              <a:rPr sz="2400" i="1" spc="35" dirty="0">
                <a:solidFill>
                  <a:srgbClr val="040C28"/>
                </a:solidFill>
                <a:latin typeface="Calibri"/>
                <a:cs typeface="Calibri"/>
              </a:rPr>
              <a:t>  </a:t>
            </a:r>
            <a:r>
              <a:rPr sz="2400" i="1" dirty="0">
                <a:solidFill>
                  <a:srgbClr val="040C28"/>
                </a:solidFill>
                <a:latin typeface="Calibri"/>
                <a:cs typeface="Calibri"/>
              </a:rPr>
              <a:t>ability</a:t>
            </a:r>
            <a:r>
              <a:rPr sz="2400" i="1" spc="575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400" i="1" spc="-25" dirty="0">
                <a:solidFill>
                  <a:srgbClr val="040C28"/>
                </a:solidFill>
                <a:latin typeface="Calibri"/>
                <a:cs typeface="Calibri"/>
              </a:rPr>
              <a:t>of </a:t>
            </a:r>
            <a:r>
              <a:rPr sz="2400" i="1" dirty="0">
                <a:solidFill>
                  <a:srgbClr val="040C28"/>
                </a:solidFill>
                <a:latin typeface="Calibri"/>
                <a:cs typeface="Calibri"/>
              </a:rPr>
              <a:t>individuals</a:t>
            </a:r>
            <a:r>
              <a:rPr sz="2400" i="1" spc="265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40C28"/>
                </a:solidFill>
                <a:latin typeface="Calibri"/>
                <a:cs typeface="Calibri"/>
              </a:rPr>
              <a:t>to</a:t>
            </a:r>
            <a:r>
              <a:rPr sz="2400" i="1" spc="265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40C28"/>
                </a:solidFill>
                <a:latin typeface="Calibri"/>
                <a:cs typeface="Calibri"/>
              </a:rPr>
              <a:t>determine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73693" y="4484370"/>
            <a:ext cx="3093720" cy="755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870"/>
              </a:lnSpc>
              <a:spcBef>
                <a:spcPts val="105"/>
              </a:spcBef>
              <a:tabLst>
                <a:tab pos="786130" algn="l"/>
                <a:tab pos="1466850" algn="l"/>
                <a:tab pos="2500630" algn="l"/>
              </a:tabLst>
            </a:pPr>
            <a:r>
              <a:rPr sz="2400" i="1" spc="-25" dirty="0">
                <a:solidFill>
                  <a:srgbClr val="040C28"/>
                </a:solidFill>
                <a:latin typeface="Calibri"/>
                <a:cs typeface="Calibri"/>
              </a:rPr>
              <a:t>who</a:t>
            </a:r>
            <a:r>
              <a:rPr sz="2400" i="1" dirty="0">
                <a:solidFill>
                  <a:srgbClr val="040C28"/>
                </a:solidFill>
                <a:latin typeface="Calibri"/>
                <a:cs typeface="Calibri"/>
              </a:rPr>
              <a:t>	</a:t>
            </a:r>
            <a:r>
              <a:rPr sz="2400" i="1" spc="-25" dirty="0">
                <a:solidFill>
                  <a:srgbClr val="040C28"/>
                </a:solidFill>
                <a:latin typeface="Calibri"/>
                <a:cs typeface="Calibri"/>
              </a:rPr>
              <a:t>can</a:t>
            </a:r>
            <a:r>
              <a:rPr sz="2400" i="1" dirty="0">
                <a:solidFill>
                  <a:srgbClr val="040C28"/>
                </a:solidFill>
                <a:latin typeface="Calibri"/>
                <a:cs typeface="Calibri"/>
              </a:rPr>
              <a:t>	</a:t>
            </a:r>
            <a:r>
              <a:rPr sz="2400" i="1" spc="-10" dirty="0">
                <a:solidFill>
                  <a:srgbClr val="040C28"/>
                </a:solidFill>
                <a:latin typeface="Calibri"/>
                <a:cs typeface="Calibri"/>
              </a:rPr>
              <a:t>access</a:t>
            </a:r>
            <a:r>
              <a:rPr sz="2400" i="1" dirty="0">
                <a:solidFill>
                  <a:srgbClr val="040C28"/>
                </a:solidFill>
                <a:latin typeface="Calibri"/>
                <a:cs typeface="Calibri"/>
              </a:rPr>
              <a:t>	</a:t>
            </a:r>
            <a:r>
              <a:rPr sz="2400" i="1" spc="-20" dirty="0">
                <a:solidFill>
                  <a:srgbClr val="040C28"/>
                </a:solidFill>
                <a:latin typeface="Calibri"/>
                <a:cs typeface="Calibri"/>
              </a:rPr>
              <a:t>their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</a:pPr>
            <a:r>
              <a:rPr sz="2400" i="1" dirty="0">
                <a:solidFill>
                  <a:srgbClr val="040C28"/>
                </a:solidFill>
                <a:latin typeface="Calibri"/>
                <a:cs typeface="Calibri"/>
              </a:rPr>
              <a:t>personal</a:t>
            </a:r>
            <a:r>
              <a:rPr sz="2400" i="1" spc="-85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40C28"/>
                </a:solidFill>
                <a:latin typeface="Calibri"/>
                <a:cs typeface="Calibri"/>
              </a:rPr>
              <a:t>information</a:t>
            </a:r>
            <a:r>
              <a:rPr sz="2400" i="1" spc="-10" dirty="0">
                <a:solidFill>
                  <a:srgbClr val="1F2023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05" y="390196"/>
            <a:ext cx="4472090" cy="30056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104" y="1133146"/>
            <a:ext cx="4386366" cy="30056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4202" y="1786191"/>
            <a:ext cx="2235200" cy="37363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93040" indent="-180340">
              <a:lnSpc>
                <a:spcPct val="100000"/>
              </a:lnSpc>
              <a:spcBef>
                <a:spcPts val="640"/>
              </a:spcBef>
              <a:buClr>
                <a:srgbClr val="877D6D"/>
              </a:buClr>
              <a:buFont typeface="Arial MT"/>
              <a:buChar char="•"/>
              <a:tabLst>
                <a:tab pos="193040" algn="l"/>
              </a:tabLst>
            </a:pPr>
            <a:r>
              <a:rPr sz="1800" spc="-10" dirty="0">
                <a:latin typeface="Arial MT"/>
                <a:cs typeface="Arial MT"/>
              </a:rPr>
              <a:t>Identity</a:t>
            </a:r>
            <a:endParaRPr sz="180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5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spc="-10" dirty="0">
                <a:latin typeface="Arial MT"/>
                <a:cs typeface="Arial MT"/>
              </a:rPr>
              <a:t>name,</a:t>
            </a:r>
            <a:endParaRPr sz="180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5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spc="-10" dirty="0">
                <a:latin typeface="Arial MT"/>
                <a:cs typeface="Arial MT"/>
              </a:rPr>
              <a:t>address</a:t>
            </a:r>
            <a:endParaRPr sz="1800">
              <a:latin typeface="Arial MT"/>
              <a:cs typeface="Arial MT"/>
            </a:endParaRPr>
          </a:p>
          <a:p>
            <a:pPr marL="193040" indent="-180340">
              <a:lnSpc>
                <a:spcPct val="100000"/>
              </a:lnSpc>
              <a:spcBef>
                <a:spcPts val="1145"/>
              </a:spcBef>
              <a:buClr>
                <a:srgbClr val="877D6D"/>
              </a:buClr>
              <a:buChar char="•"/>
              <a:tabLst>
                <a:tab pos="193040" algn="l"/>
              </a:tabLst>
            </a:pPr>
            <a:r>
              <a:rPr sz="1800" spc="-10" dirty="0">
                <a:latin typeface="Arial MT"/>
                <a:cs typeface="Arial MT"/>
              </a:rPr>
              <a:t>Location</a:t>
            </a:r>
            <a:endParaRPr sz="1800">
              <a:latin typeface="Arial MT"/>
              <a:cs typeface="Arial MT"/>
            </a:endParaRPr>
          </a:p>
          <a:p>
            <a:pPr marL="193040" indent="-180340">
              <a:lnSpc>
                <a:spcPct val="100000"/>
              </a:lnSpc>
              <a:spcBef>
                <a:spcPts val="1070"/>
              </a:spcBef>
              <a:buClr>
                <a:srgbClr val="877D6D"/>
              </a:buClr>
              <a:buChar char="•"/>
              <a:tabLst>
                <a:tab pos="193040" algn="l"/>
              </a:tabLst>
            </a:pPr>
            <a:r>
              <a:rPr sz="1800" spc="-10" dirty="0">
                <a:latin typeface="Arial MT"/>
                <a:cs typeface="Arial MT"/>
              </a:rPr>
              <a:t>Activity</a:t>
            </a:r>
            <a:endParaRPr sz="180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0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dirty="0">
                <a:latin typeface="Arial MT"/>
                <a:cs typeface="Arial MT"/>
              </a:rPr>
              <a:t>web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history,</a:t>
            </a:r>
            <a:endParaRPr sz="180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5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dirty="0">
                <a:latin typeface="Arial MT"/>
                <a:cs typeface="Arial MT"/>
              </a:rPr>
              <a:t>contact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history,</a:t>
            </a:r>
            <a:endParaRPr sz="180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5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dirty="0">
                <a:latin typeface="Arial MT"/>
                <a:cs typeface="Arial MT"/>
              </a:rPr>
              <a:t>online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purchases</a:t>
            </a:r>
            <a:endParaRPr sz="1800">
              <a:latin typeface="Arial MT"/>
              <a:cs typeface="Arial MT"/>
            </a:endParaRPr>
          </a:p>
          <a:p>
            <a:pPr marL="193040" indent="-180340">
              <a:lnSpc>
                <a:spcPct val="100000"/>
              </a:lnSpc>
              <a:spcBef>
                <a:spcPts val="1070"/>
              </a:spcBef>
              <a:buClr>
                <a:srgbClr val="877D6D"/>
              </a:buClr>
              <a:buChar char="•"/>
              <a:tabLst>
                <a:tab pos="193040" algn="l"/>
              </a:tabLst>
            </a:pPr>
            <a:r>
              <a:rPr sz="1800" dirty="0">
                <a:latin typeface="Arial MT"/>
                <a:cs typeface="Arial MT"/>
              </a:rPr>
              <a:t>Health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records</a:t>
            </a:r>
            <a:endParaRPr sz="1800">
              <a:latin typeface="Arial MT"/>
              <a:cs typeface="Arial MT"/>
            </a:endParaRPr>
          </a:p>
          <a:p>
            <a:pPr marL="193040" indent="-180340">
              <a:lnSpc>
                <a:spcPct val="100000"/>
              </a:lnSpc>
              <a:spcBef>
                <a:spcPts val="1070"/>
              </a:spcBef>
              <a:buClr>
                <a:srgbClr val="877D6D"/>
              </a:buClr>
              <a:buChar char="•"/>
              <a:tabLst>
                <a:tab pos="193040" algn="l"/>
              </a:tabLst>
            </a:pPr>
            <a:r>
              <a:rPr sz="1800" dirty="0">
                <a:latin typeface="Arial MT"/>
                <a:cs typeface="Arial MT"/>
              </a:rPr>
              <a:t>…and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more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41826" y="1580134"/>
            <a:ext cx="5491480" cy="4084954"/>
          </a:xfrm>
          <a:prstGeom prst="rect">
            <a:avLst/>
          </a:prstGeom>
        </p:spPr>
        <p:txBody>
          <a:bodyPr vert="horz" wrap="square" lIns="0" tIns="287655" rIns="0" bIns="0" rtlCol="0">
            <a:spAutoFit/>
          </a:bodyPr>
          <a:lstStyle/>
          <a:p>
            <a:pPr marL="193040" indent="-180340">
              <a:lnSpc>
                <a:spcPct val="100000"/>
              </a:lnSpc>
              <a:spcBef>
                <a:spcPts val="2265"/>
              </a:spcBef>
              <a:buClr>
                <a:srgbClr val="877D6D"/>
              </a:buClr>
              <a:buChar char="•"/>
              <a:tabLst>
                <a:tab pos="193040" algn="l"/>
              </a:tabLst>
            </a:pPr>
            <a:r>
              <a:rPr sz="3600" dirty="0">
                <a:latin typeface="Arial MT"/>
                <a:cs typeface="Arial MT"/>
              </a:rPr>
              <a:t>Tracking</a:t>
            </a:r>
            <a:r>
              <a:rPr sz="3600" spc="-8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on</a:t>
            </a:r>
            <a:r>
              <a:rPr sz="3600" spc="-8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-80" dirty="0">
                <a:latin typeface="Arial MT"/>
                <a:cs typeface="Arial MT"/>
              </a:rPr>
              <a:t> </a:t>
            </a:r>
            <a:r>
              <a:rPr sz="3600" spc="-25" dirty="0">
                <a:latin typeface="Arial MT"/>
                <a:cs typeface="Arial MT"/>
              </a:rPr>
              <a:t>web</a:t>
            </a:r>
            <a:endParaRPr sz="3600">
              <a:latin typeface="Arial MT"/>
              <a:cs typeface="Arial MT"/>
            </a:endParaRPr>
          </a:p>
          <a:p>
            <a:pPr marL="193675" indent="-180975">
              <a:lnSpc>
                <a:spcPct val="100000"/>
              </a:lnSpc>
              <a:spcBef>
                <a:spcPts val="1085"/>
              </a:spcBef>
              <a:buClr>
                <a:srgbClr val="877D6D"/>
              </a:buClr>
              <a:buChar char="•"/>
              <a:tabLst>
                <a:tab pos="193675" algn="l"/>
              </a:tabLst>
            </a:pPr>
            <a:r>
              <a:rPr sz="1800" dirty="0">
                <a:latin typeface="Arial MT"/>
                <a:cs typeface="Arial MT"/>
              </a:rPr>
              <a:t>IP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address</a:t>
            </a:r>
            <a:endParaRPr sz="180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5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dirty="0">
                <a:latin typeface="Arial MT"/>
                <a:cs typeface="Arial MT"/>
              </a:rPr>
              <a:t>Number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identifying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 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Internet</a:t>
            </a:r>
            <a:endParaRPr sz="180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5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dirty="0">
                <a:latin typeface="Arial MT"/>
                <a:cs typeface="Arial MT"/>
              </a:rPr>
              <a:t>Visible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 site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 are </a:t>
            </a:r>
            <a:r>
              <a:rPr sz="1800" spc="-10" dirty="0">
                <a:latin typeface="Arial MT"/>
                <a:cs typeface="Arial MT"/>
              </a:rPr>
              <a:t>visiting</a:t>
            </a:r>
            <a:endParaRPr sz="180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5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always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permanent</a:t>
            </a:r>
            <a:endParaRPr sz="1800">
              <a:latin typeface="Arial MT"/>
              <a:cs typeface="Arial MT"/>
            </a:endParaRPr>
          </a:p>
          <a:p>
            <a:pPr marL="193675" indent="-180975">
              <a:lnSpc>
                <a:spcPct val="100000"/>
              </a:lnSpc>
              <a:spcBef>
                <a:spcPts val="1140"/>
              </a:spcBef>
              <a:buClr>
                <a:srgbClr val="877D6D"/>
              </a:buClr>
              <a:buChar char="•"/>
              <a:tabLst>
                <a:tab pos="193675" algn="l"/>
              </a:tabLst>
            </a:pPr>
            <a:r>
              <a:rPr sz="1800" spc="-10" dirty="0">
                <a:latin typeface="Arial MT"/>
                <a:cs typeface="Arial MT"/>
              </a:rPr>
              <a:t>Cookies</a:t>
            </a:r>
            <a:endParaRPr sz="180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5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dirty="0">
                <a:latin typeface="Arial MT"/>
                <a:cs typeface="Arial MT"/>
              </a:rPr>
              <a:t>Text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stored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your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site</a:t>
            </a:r>
            <a:endParaRPr sz="180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5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dirty="0">
                <a:latin typeface="Arial MT"/>
                <a:cs typeface="Arial MT"/>
              </a:rPr>
              <a:t>Sent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back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site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browser</a:t>
            </a:r>
            <a:endParaRPr sz="180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5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save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prefs,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shopping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cart,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etc.</a:t>
            </a:r>
            <a:endParaRPr sz="180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0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dirty="0">
                <a:latin typeface="Arial MT"/>
                <a:cs typeface="Arial MT"/>
              </a:rPr>
              <a:t>Can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track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IP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changes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553222" y="3890995"/>
            <a:ext cx="2362200" cy="2171065"/>
            <a:chOff x="9553222" y="3890995"/>
            <a:chExt cx="2362200" cy="217106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06330" y="5372478"/>
              <a:ext cx="1007745" cy="68914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565922" y="3903695"/>
              <a:ext cx="2336800" cy="991235"/>
            </a:xfrm>
            <a:custGeom>
              <a:avLst/>
              <a:gdLst/>
              <a:ahLst/>
              <a:cxnLst/>
              <a:rect l="l" t="t" r="r" b="b"/>
              <a:pathLst>
                <a:path w="2336800" h="991235">
                  <a:moveTo>
                    <a:pt x="212569" y="326293"/>
                  </a:moveTo>
                  <a:lnTo>
                    <a:pt x="215494" y="258851"/>
                  </a:lnTo>
                  <a:lnTo>
                    <a:pt x="253313" y="197505"/>
                  </a:lnTo>
                  <a:lnTo>
                    <a:pt x="283705" y="170337"/>
                  </a:lnTo>
                  <a:lnTo>
                    <a:pt x="320898" y="146156"/>
                  </a:lnTo>
                  <a:lnTo>
                    <a:pt x="364251" y="125450"/>
                  </a:lnTo>
                  <a:lnTo>
                    <a:pt x="413124" y="108707"/>
                  </a:lnTo>
                  <a:lnTo>
                    <a:pt x="466874" y="96413"/>
                  </a:lnTo>
                  <a:lnTo>
                    <a:pt x="524862" y="89057"/>
                  </a:lnTo>
                  <a:lnTo>
                    <a:pt x="573464" y="87140"/>
                  </a:lnTo>
                  <a:lnTo>
                    <a:pt x="621766" y="88960"/>
                  </a:lnTo>
                  <a:lnTo>
                    <a:pt x="669136" y="94443"/>
                  </a:lnTo>
                  <a:lnTo>
                    <a:pt x="714940" y="103517"/>
                  </a:lnTo>
                  <a:lnTo>
                    <a:pt x="758542" y="116108"/>
                  </a:lnTo>
                  <a:lnTo>
                    <a:pt x="786910" y="90915"/>
                  </a:lnTo>
                  <a:lnTo>
                    <a:pt x="821579" y="69650"/>
                  </a:lnTo>
                  <a:lnTo>
                    <a:pt x="861445" y="52509"/>
                  </a:lnTo>
                  <a:lnTo>
                    <a:pt x="905407" y="39687"/>
                  </a:lnTo>
                  <a:lnTo>
                    <a:pt x="952362" y="31376"/>
                  </a:lnTo>
                  <a:lnTo>
                    <a:pt x="1001206" y="27773"/>
                  </a:lnTo>
                  <a:lnTo>
                    <a:pt x="1050838" y="29070"/>
                  </a:lnTo>
                  <a:lnTo>
                    <a:pt x="1100154" y="35464"/>
                  </a:lnTo>
                  <a:lnTo>
                    <a:pt x="1148051" y="47147"/>
                  </a:lnTo>
                  <a:lnTo>
                    <a:pt x="1199611" y="67328"/>
                  </a:lnTo>
                  <a:lnTo>
                    <a:pt x="1214980" y="75468"/>
                  </a:lnTo>
                  <a:lnTo>
                    <a:pt x="1244700" y="49124"/>
                  </a:lnTo>
                  <a:lnTo>
                    <a:pt x="1282738" y="28035"/>
                  </a:lnTo>
                  <a:lnTo>
                    <a:pt x="1327194" y="12570"/>
                  </a:lnTo>
                  <a:lnTo>
                    <a:pt x="1376169" y="3101"/>
                  </a:lnTo>
                  <a:lnTo>
                    <a:pt x="1427763" y="0"/>
                  </a:lnTo>
                  <a:lnTo>
                    <a:pt x="1480076" y="3636"/>
                  </a:lnTo>
                  <a:lnTo>
                    <a:pt x="1531210" y="14381"/>
                  </a:lnTo>
                  <a:lnTo>
                    <a:pt x="1576264" y="31288"/>
                  </a:lnTo>
                  <a:lnTo>
                    <a:pt x="1613506" y="53624"/>
                  </a:lnTo>
                  <a:lnTo>
                    <a:pt x="1651770" y="32389"/>
                  </a:lnTo>
                  <a:lnTo>
                    <a:pt x="1695276" y="16453"/>
                  </a:lnTo>
                  <a:lnTo>
                    <a:pt x="1742542" y="5886"/>
                  </a:lnTo>
                  <a:lnTo>
                    <a:pt x="1792084" y="760"/>
                  </a:lnTo>
                  <a:lnTo>
                    <a:pt x="1842418" y="1147"/>
                  </a:lnTo>
                  <a:lnTo>
                    <a:pt x="1892059" y="7118"/>
                  </a:lnTo>
                  <a:lnTo>
                    <a:pt x="1939524" y="18745"/>
                  </a:lnTo>
                  <a:lnTo>
                    <a:pt x="1983330" y="36098"/>
                  </a:lnTo>
                  <a:lnTo>
                    <a:pt x="2040925" y="75929"/>
                  </a:lnTo>
                  <a:lnTo>
                    <a:pt x="2071849" y="124617"/>
                  </a:lnTo>
                  <a:lnTo>
                    <a:pt x="2126340" y="136737"/>
                  </a:lnTo>
                  <a:lnTo>
                    <a:pt x="2174112" y="154355"/>
                  </a:lnTo>
                  <a:lnTo>
                    <a:pt x="2214354" y="176646"/>
                  </a:lnTo>
                  <a:lnTo>
                    <a:pt x="2246252" y="202786"/>
                  </a:lnTo>
                  <a:lnTo>
                    <a:pt x="2281768" y="263313"/>
                  </a:lnTo>
                  <a:lnTo>
                    <a:pt x="2283761" y="296052"/>
                  </a:lnTo>
                  <a:lnTo>
                    <a:pt x="2274160" y="329341"/>
                  </a:lnTo>
                  <a:lnTo>
                    <a:pt x="2271329" y="334935"/>
                  </a:lnTo>
                  <a:lnTo>
                    <a:pt x="2268175" y="340470"/>
                  </a:lnTo>
                  <a:lnTo>
                    <a:pt x="2264713" y="345933"/>
                  </a:lnTo>
                  <a:lnTo>
                    <a:pt x="2260952" y="351312"/>
                  </a:lnTo>
                  <a:lnTo>
                    <a:pt x="2296332" y="383520"/>
                  </a:lnTo>
                  <a:lnTo>
                    <a:pt x="2320556" y="417863"/>
                  </a:lnTo>
                  <a:lnTo>
                    <a:pt x="2333813" y="453505"/>
                  </a:lnTo>
                  <a:lnTo>
                    <a:pt x="2336292" y="489607"/>
                  </a:lnTo>
                  <a:lnTo>
                    <a:pt x="2328182" y="525334"/>
                  </a:lnTo>
                  <a:lnTo>
                    <a:pt x="2309673" y="559846"/>
                  </a:lnTo>
                  <a:lnTo>
                    <a:pt x="2280954" y="592308"/>
                  </a:lnTo>
                  <a:lnTo>
                    <a:pt x="2242214" y="621882"/>
                  </a:lnTo>
                  <a:lnTo>
                    <a:pt x="2193642" y="647730"/>
                  </a:lnTo>
                  <a:lnTo>
                    <a:pt x="2154606" y="662829"/>
                  </a:lnTo>
                  <a:lnTo>
                    <a:pt x="2112712" y="674892"/>
                  </a:lnTo>
                  <a:lnTo>
                    <a:pt x="2068484" y="683788"/>
                  </a:lnTo>
                  <a:lnTo>
                    <a:pt x="2022446" y="689386"/>
                  </a:lnTo>
                  <a:lnTo>
                    <a:pt x="2016959" y="721772"/>
                  </a:lnTo>
                  <a:lnTo>
                    <a:pt x="1978523" y="780201"/>
                  </a:lnTo>
                  <a:lnTo>
                    <a:pt x="1947351" y="805233"/>
                  </a:lnTo>
                  <a:lnTo>
                    <a:pt x="1909394" y="826801"/>
                  </a:lnTo>
                  <a:lnTo>
                    <a:pt x="1865540" y="844401"/>
                  </a:lnTo>
                  <a:lnTo>
                    <a:pt x="1816679" y="857527"/>
                  </a:lnTo>
                  <a:lnTo>
                    <a:pt x="1763698" y="865671"/>
                  </a:lnTo>
                  <a:lnTo>
                    <a:pt x="1707486" y="868329"/>
                  </a:lnTo>
                  <a:lnTo>
                    <a:pt x="1664578" y="866418"/>
                  </a:lnTo>
                  <a:lnTo>
                    <a:pt x="1622730" y="861138"/>
                  </a:lnTo>
                  <a:lnTo>
                    <a:pt x="1582524" y="852595"/>
                  </a:lnTo>
                  <a:lnTo>
                    <a:pt x="1544545" y="840897"/>
                  </a:lnTo>
                  <a:lnTo>
                    <a:pt x="1525131" y="870135"/>
                  </a:lnTo>
                  <a:lnTo>
                    <a:pt x="1467519" y="920504"/>
                  </a:lnTo>
                  <a:lnTo>
                    <a:pt x="1430729" y="941201"/>
                  </a:lnTo>
                  <a:lnTo>
                    <a:pt x="1389552" y="958616"/>
                  </a:lnTo>
                  <a:lnTo>
                    <a:pt x="1344693" y="972530"/>
                  </a:lnTo>
                  <a:lnTo>
                    <a:pt x="1296854" y="982728"/>
                  </a:lnTo>
                  <a:lnTo>
                    <a:pt x="1246737" y="988990"/>
                  </a:lnTo>
                  <a:lnTo>
                    <a:pt x="1195047" y="991101"/>
                  </a:lnTo>
                  <a:lnTo>
                    <a:pt x="1142487" y="988841"/>
                  </a:lnTo>
                  <a:lnTo>
                    <a:pt x="1089758" y="981994"/>
                  </a:lnTo>
                  <a:lnTo>
                    <a:pt x="1031414" y="968453"/>
                  </a:lnTo>
                  <a:lnTo>
                    <a:pt x="978284" y="949482"/>
                  </a:lnTo>
                  <a:lnTo>
                    <a:pt x="931488" y="925559"/>
                  </a:lnTo>
                  <a:lnTo>
                    <a:pt x="892146" y="897158"/>
                  </a:lnTo>
                  <a:lnTo>
                    <a:pt x="841695" y="912177"/>
                  </a:lnTo>
                  <a:lnTo>
                    <a:pt x="789476" y="922881"/>
                  </a:lnTo>
                  <a:lnTo>
                    <a:pt x="736168" y="929371"/>
                  </a:lnTo>
                  <a:lnTo>
                    <a:pt x="682455" y="931745"/>
                  </a:lnTo>
                  <a:lnTo>
                    <a:pt x="629017" y="930102"/>
                  </a:lnTo>
                  <a:lnTo>
                    <a:pt x="576535" y="924543"/>
                  </a:lnTo>
                  <a:lnTo>
                    <a:pt x="525692" y="915165"/>
                  </a:lnTo>
                  <a:lnTo>
                    <a:pt x="477167" y="902069"/>
                  </a:lnTo>
                  <a:lnTo>
                    <a:pt x="431642" y="885353"/>
                  </a:lnTo>
                  <a:lnTo>
                    <a:pt x="389800" y="865117"/>
                  </a:lnTo>
                  <a:lnTo>
                    <a:pt x="352320" y="841460"/>
                  </a:lnTo>
                  <a:lnTo>
                    <a:pt x="319884" y="814481"/>
                  </a:lnTo>
                  <a:lnTo>
                    <a:pt x="315566" y="810163"/>
                  </a:lnTo>
                  <a:lnTo>
                    <a:pt x="261173" y="810236"/>
                  </a:lnTo>
                  <a:lnTo>
                    <a:pt x="209855" y="803422"/>
                  </a:lnTo>
                  <a:lnTo>
                    <a:pt x="163177" y="790439"/>
                  </a:lnTo>
                  <a:lnTo>
                    <a:pt x="122707" y="772004"/>
                  </a:lnTo>
                  <a:lnTo>
                    <a:pt x="90010" y="748835"/>
                  </a:lnTo>
                  <a:lnTo>
                    <a:pt x="54200" y="691164"/>
                  </a:lnTo>
                  <a:lnTo>
                    <a:pt x="53774" y="661589"/>
                  </a:lnTo>
                  <a:lnTo>
                    <a:pt x="64313" y="632966"/>
                  </a:lnTo>
                  <a:lnTo>
                    <a:pt x="85258" y="606296"/>
                  </a:lnTo>
                  <a:lnTo>
                    <a:pt x="116049" y="582579"/>
                  </a:lnTo>
                  <a:lnTo>
                    <a:pt x="66484" y="560091"/>
                  </a:lnTo>
                  <a:lnTo>
                    <a:pt x="30084" y="531789"/>
                  </a:lnTo>
                  <a:lnTo>
                    <a:pt x="7655" y="499458"/>
                  </a:lnTo>
                  <a:lnTo>
                    <a:pt x="0" y="464883"/>
                  </a:lnTo>
                  <a:lnTo>
                    <a:pt x="7923" y="429850"/>
                  </a:lnTo>
                  <a:lnTo>
                    <a:pt x="32229" y="396143"/>
                  </a:lnTo>
                  <a:lnTo>
                    <a:pt x="65557" y="370525"/>
                  </a:lnTo>
                  <a:lnTo>
                    <a:pt x="107683" y="350360"/>
                  </a:lnTo>
                  <a:lnTo>
                    <a:pt x="156691" y="336386"/>
                  </a:lnTo>
                  <a:lnTo>
                    <a:pt x="210664" y="329341"/>
                  </a:lnTo>
                  <a:lnTo>
                    <a:pt x="212569" y="326293"/>
                  </a:lnTo>
                  <a:close/>
                </a:path>
                <a:path w="2336800" h="991235">
                  <a:moveTo>
                    <a:pt x="255495" y="597057"/>
                  </a:moveTo>
                  <a:lnTo>
                    <a:pt x="219780" y="597093"/>
                  </a:lnTo>
                  <a:lnTo>
                    <a:pt x="184661" y="594009"/>
                  </a:lnTo>
                  <a:lnTo>
                    <a:pt x="150732" y="587878"/>
                  </a:lnTo>
                  <a:lnTo>
                    <a:pt x="118589" y="578769"/>
                  </a:lnTo>
                </a:path>
                <a:path w="2336800" h="991235">
                  <a:moveTo>
                    <a:pt x="376145" y="797082"/>
                  </a:moveTo>
                  <a:lnTo>
                    <a:pt x="361602" y="800077"/>
                  </a:lnTo>
                  <a:lnTo>
                    <a:pt x="346761" y="802559"/>
                  </a:lnTo>
                  <a:lnTo>
                    <a:pt x="331658" y="804494"/>
                  </a:lnTo>
                  <a:lnTo>
                    <a:pt x="316328" y="805845"/>
                  </a:lnTo>
                </a:path>
                <a:path w="2336800" h="991235">
                  <a:moveTo>
                    <a:pt x="892019" y="893094"/>
                  </a:moveTo>
                  <a:lnTo>
                    <a:pt x="881669" y="883595"/>
                  </a:lnTo>
                  <a:lnTo>
                    <a:pt x="872176" y="873774"/>
                  </a:lnTo>
                  <a:lnTo>
                    <a:pt x="863587" y="863644"/>
                  </a:lnTo>
                  <a:lnTo>
                    <a:pt x="855951" y="853216"/>
                  </a:lnTo>
                </a:path>
                <a:path w="2336800" h="991235">
                  <a:moveTo>
                    <a:pt x="1559150" y="793653"/>
                  </a:moveTo>
                  <a:lnTo>
                    <a:pt x="1557033" y="804750"/>
                  </a:lnTo>
                  <a:lnTo>
                    <a:pt x="1553927" y="815751"/>
                  </a:lnTo>
                  <a:lnTo>
                    <a:pt x="1549846" y="826657"/>
                  </a:lnTo>
                  <a:lnTo>
                    <a:pt x="1544799" y="837468"/>
                  </a:lnTo>
                </a:path>
                <a:path w="2336800" h="991235">
                  <a:moveTo>
                    <a:pt x="1845535" y="523143"/>
                  </a:moveTo>
                  <a:lnTo>
                    <a:pt x="1905499" y="545190"/>
                  </a:lnTo>
                  <a:lnTo>
                    <a:pt x="1954453" y="573882"/>
                  </a:lnTo>
                  <a:lnTo>
                    <a:pt x="1990989" y="607908"/>
                  </a:lnTo>
                  <a:lnTo>
                    <a:pt x="2013700" y="645957"/>
                  </a:lnTo>
                  <a:lnTo>
                    <a:pt x="2021176" y="686719"/>
                  </a:lnTo>
                </a:path>
                <a:path w="2336800" h="991235">
                  <a:moveTo>
                    <a:pt x="2259809" y="348899"/>
                  </a:moveTo>
                  <a:lnTo>
                    <a:pt x="2244960" y="366110"/>
                  </a:lnTo>
                  <a:lnTo>
                    <a:pt x="2226837" y="382189"/>
                  </a:lnTo>
                  <a:lnTo>
                    <a:pt x="2205642" y="396959"/>
                  </a:lnTo>
                  <a:lnTo>
                    <a:pt x="2181577" y="410240"/>
                  </a:lnTo>
                </a:path>
                <a:path w="2336800" h="991235">
                  <a:moveTo>
                    <a:pt x="2072230" y="121188"/>
                  </a:moveTo>
                  <a:lnTo>
                    <a:pt x="2074133" y="128374"/>
                  </a:lnTo>
                  <a:lnTo>
                    <a:pt x="2075453" y="135619"/>
                  </a:lnTo>
                  <a:lnTo>
                    <a:pt x="2076177" y="142887"/>
                  </a:lnTo>
                  <a:lnTo>
                    <a:pt x="2076294" y="150144"/>
                  </a:lnTo>
                </a:path>
                <a:path w="2336800" h="991235">
                  <a:moveTo>
                    <a:pt x="1572739" y="87406"/>
                  </a:moveTo>
                  <a:lnTo>
                    <a:pt x="1580972" y="77578"/>
                  </a:lnTo>
                  <a:lnTo>
                    <a:pt x="1590408" y="68118"/>
                  </a:lnTo>
                  <a:lnTo>
                    <a:pt x="1601011" y="59063"/>
                  </a:lnTo>
                  <a:lnTo>
                    <a:pt x="1612744" y="50449"/>
                  </a:lnTo>
                </a:path>
                <a:path w="2336800" h="991235">
                  <a:moveTo>
                    <a:pt x="1197962" y="105059"/>
                  </a:moveTo>
                  <a:lnTo>
                    <a:pt x="1201534" y="96828"/>
                  </a:lnTo>
                  <a:lnTo>
                    <a:pt x="1205963" y="88740"/>
                  </a:lnTo>
                  <a:lnTo>
                    <a:pt x="1211250" y="80842"/>
                  </a:lnTo>
                  <a:lnTo>
                    <a:pt x="1217393" y="73182"/>
                  </a:lnTo>
                </a:path>
                <a:path w="2336800" h="991235">
                  <a:moveTo>
                    <a:pt x="758161" y="115854"/>
                  </a:moveTo>
                  <a:lnTo>
                    <a:pt x="776939" y="122659"/>
                  </a:lnTo>
                  <a:lnTo>
                    <a:pt x="794944" y="130094"/>
                  </a:lnTo>
                  <a:lnTo>
                    <a:pt x="812114" y="138125"/>
                  </a:lnTo>
                  <a:lnTo>
                    <a:pt x="828392" y="146715"/>
                  </a:lnTo>
                </a:path>
                <a:path w="2336800" h="991235">
                  <a:moveTo>
                    <a:pt x="224888" y="358805"/>
                  </a:moveTo>
                  <a:lnTo>
                    <a:pt x="220981" y="350832"/>
                  </a:lnTo>
                  <a:lnTo>
                    <a:pt x="217633" y="342740"/>
                  </a:lnTo>
                  <a:lnTo>
                    <a:pt x="214833" y="334552"/>
                  </a:lnTo>
                  <a:lnTo>
                    <a:pt x="212569" y="326293"/>
                  </a:lnTo>
                </a:path>
              </a:pathLst>
            </a:custGeom>
            <a:ln w="254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761855" y="6134100"/>
            <a:ext cx="94361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10" dirty="0">
                <a:latin typeface="Courier New"/>
                <a:cs typeface="Courier New"/>
              </a:rPr>
              <a:t>152.3.136.66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43490" y="4291012"/>
            <a:ext cx="1020444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latin typeface="Arial"/>
                <a:cs typeface="Arial"/>
              </a:rPr>
              <a:t>Internet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63150" y="2600325"/>
            <a:ext cx="1695450" cy="32385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924668" y="2941002"/>
            <a:ext cx="101600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10" dirty="0">
                <a:latin typeface="Courier New"/>
                <a:cs typeface="Courier New"/>
              </a:rPr>
              <a:t>72.21.214.128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420350" y="3162299"/>
            <a:ext cx="365760" cy="2181225"/>
          </a:xfrm>
          <a:custGeom>
            <a:avLst/>
            <a:gdLst/>
            <a:ahLst/>
            <a:cxnLst/>
            <a:rect l="l" t="t" r="r" b="b"/>
            <a:pathLst>
              <a:path w="365759" h="2181225">
                <a:moveTo>
                  <a:pt x="360172" y="1818767"/>
                </a:moveTo>
                <a:lnTo>
                  <a:pt x="357505" y="1814322"/>
                </a:lnTo>
                <a:lnTo>
                  <a:pt x="315760" y="1742821"/>
                </a:lnTo>
                <a:lnTo>
                  <a:pt x="304800" y="1724025"/>
                </a:lnTo>
                <a:lnTo>
                  <a:pt x="252095" y="1814322"/>
                </a:lnTo>
                <a:lnTo>
                  <a:pt x="249428" y="1818767"/>
                </a:lnTo>
                <a:lnTo>
                  <a:pt x="250952" y="1824609"/>
                </a:lnTo>
                <a:lnTo>
                  <a:pt x="260096" y="1829943"/>
                </a:lnTo>
                <a:lnTo>
                  <a:pt x="265938" y="1828419"/>
                </a:lnTo>
                <a:lnTo>
                  <a:pt x="295275" y="1778139"/>
                </a:lnTo>
                <a:lnTo>
                  <a:pt x="295275" y="2127123"/>
                </a:lnTo>
                <a:lnTo>
                  <a:pt x="265938" y="2076831"/>
                </a:lnTo>
                <a:lnTo>
                  <a:pt x="260096" y="2075307"/>
                </a:lnTo>
                <a:lnTo>
                  <a:pt x="250952" y="2080641"/>
                </a:lnTo>
                <a:lnTo>
                  <a:pt x="249428" y="2086483"/>
                </a:lnTo>
                <a:lnTo>
                  <a:pt x="252095" y="2090928"/>
                </a:lnTo>
                <a:lnTo>
                  <a:pt x="304800" y="2181225"/>
                </a:lnTo>
                <a:lnTo>
                  <a:pt x="315836" y="2162302"/>
                </a:lnTo>
                <a:lnTo>
                  <a:pt x="357505" y="2090928"/>
                </a:lnTo>
                <a:lnTo>
                  <a:pt x="360172" y="2086483"/>
                </a:lnTo>
                <a:lnTo>
                  <a:pt x="358648" y="2080641"/>
                </a:lnTo>
                <a:lnTo>
                  <a:pt x="349504" y="2075307"/>
                </a:lnTo>
                <a:lnTo>
                  <a:pt x="343662" y="2076831"/>
                </a:lnTo>
                <a:lnTo>
                  <a:pt x="314325" y="2127123"/>
                </a:lnTo>
                <a:lnTo>
                  <a:pt x="314325" y="1778139"/>
                </a:lnTo>
                <a:lnTo>
                  <a:pt x="343662" y="1828419"/>
                </a:lnTo>
                <a:lnTo>
                  <a:pt x="349504" y="1829943"/>
                </a:lnTo>
                <a:lnTo>
                  <a:pt x="358648" y="1824609"/>
                </a:lnTo>
                <a:lnTo>
                  <a:pt x="360172" y="1818767"/>
                </a:lnTo>
                <a:close/>
              </a:path>
              <a:path w="365759" h="2181225">
                <a:moveTo>
                  <a:pt x="365379" y="623316"/>
                </a:moveTo>
                <a:lnTo>
                  <a:pt x="361569" y="618744"/>
                </a:lnTo>
                <a:lnTo>
                  <a:pt x="356362" y="618236"/>
                </a:lnTo>
                <a:lnTo>
                  <a:pt x="351028" y="617855"/>
                </a:lnTo>
                <a:lnTo>
                  <a:pt x="346456" y="621665"/>
                </a:lnTo>
                <a:lnTo>
                  <a:pt x="345948" y="626999"/>
                </a:lnTo>
                <a:lnTo>
                  <a:pt x="341376" y="679640"/>
                </a:lnTo>
                <a:lnTo>
                  <a:pt x="41211" y="44805"/>
                </a:lnTo>
                <a:lnTo>
                  <a:pt x="89281" y="77724"/>
                </a:lnTo>
                <a:lnTo>
                  <a:pt x="95250" y="76708"/>
                </a:lnTo>
                <a:lnTo>
                  <a:pt x="98171" y="72263"/>
                </a:lnTo>
                <a:lnTo>
                  <a:pt x="101219" y="67945"/>
                </a:lnTo>
                <a:lnTo>
                  <a:pt x="100076" y="62103"/>
                </a:lnTo>
                <a:lnTo>
                  <a:pt x="95758" y="59055"/>
                </a:lnTo>
                <a:lnTo>
                  <a:pt x="28435" y="12954"/>
                </a:lnTo>
                <a:lnTo>
                  <a:pt x="9525" y="0"/>
                </a:lnTo>
                <a:lnTo>
                  <a:pt x="508" y="104140"/>
                </a:lnTo>
                <a:lnTo>
                  <a:pt x="0" y="109347"/>
                </a:lnTo>
                <a:lnTo>
                  <a:pt x="3937" y="113919"/>
                </a:lnTo>
                <a:lnTo>
                  <a:pt x="14351" y="114935"/>
                </a:lnTo>
                <a:lnTo>
                  <a:pt x="19050" y="110998"/>
                </a:lnTo>
                <a:lnTo>
                  <a:pt x="19431" y="105791"/>
                </a:lnTo>
                <a:lnTo>
                  <a:pt x="24015" y="52832"/>
                </a:lnTo>
                <a:lnTo>
                  <a:pt x="324104" y="687743"/>
                </a:lnTo>
                <a:lnTo>
                  <a:pt x="276225" y="654939"/>
                </a:lnTo>
                <a:lnTo>
                  <a:pt x="270256" y="656082"/>
                </a:lnTo>
                <a:lnTo>
                  <a:pt x="267208" y="660400"/>
                </a:lnTo>
                <a:lnTo>
                  <a:pt x="264287" y="664718"/>
                </a:lnTo>
                <a:lnTo>
                  <a:pt x="265430" y="670687"/>
                </a:lnTo>
                <a:lnTo>
                  <a:pt x="355981" y="732790"/>
                </a:lnTo>
                <a:lnTo>
                  <a:pt x="357111" y="719709"/>
                </a:lnTo>
                <a:lnTo>
                  <a:pt x="364998" y="628650"/>
                </a:lnTo>
                <a:lnTo>
                  <a:pt x="365379" y="6233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453760" y="6609142"/>
            <a:ext cx="117729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Big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06" y="399714"/>
            <a:ext cx="4691163" cy="2910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7057" y="946721"/>
            <a:ext cx="10521315" cy="510984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640"/>
              </a:spcBef>
              <a:buClr>
                <a:srgbClr val="877D6D"/>
              </a:buClr>
              <a:buFont typeface="Arial MT"/>
              <a:buChar char="•"/>
              <a:tabLst>
                <a:tab pos="193675" algn="l"/>
              </a:tabLst>
            </a:pP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anonymization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&amp;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pseudonymization</a:t>
            </a:r>
            <a:endParaRPr sz="1800">
              <a:latin typeface="Arial MT"/>
              <a:cs typeface="Arial MT"/>
            </a:endParaRPr>
          </a:p>
          <a:p>
            <a:pPr marL="497840" marR="695325" lvl="1" indent="-161290">
              <a:lnSpc>
                <a:spcPct val="100800"/>
              </a:lnSpc>
              <a:spcBef>
                <a:spcPts val="530"/>
              </a:spcBef>
              <a:buClr>
                <a:srgbClr val="877D6D"/>
              </a:buClr>
              <a:buFont typeface="Arial MT"/>
              <a:buChar char="–"/>
              <a:tabLst>
                <a:tab pos="499109" algn="l"/>
              </a:tabLst>
            </a:pPr>
            <a:r>
              <a:rPr sz="1800" i="1" dirty="0">
                <a:latin typeface="Arial"/>
                <a:cs typeface="Arial"/>
              </a:rPr>
              <a:t>Anonymization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Removing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personal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identifiers (e.g.,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names,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IDs)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cannot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 	</a:t>
            </a:r>
            <a:r>
              <a:rPr sz="1800" spc="-10" dirty="0">
                <a:latin typeface="Arial MT"/>
                <a:cs typeface="Arial MT"/>
              </a:rPr>
              <a:t>individuals.</a:t>
            </a:r>
            <a:endParaRPr sz="180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5"/>
              </a:spcBef>
              <a:buClr>
                <a:srgbClr val="877D6D"/>
              </a:buClr>
              <a:buFont typeface="Arial MT"/>
              <a:buChar char="–"/>
              <a:tabLst>
                <a:tab pos="497840" algn="l"/>
              </a:tabLst>
            </a:pPr>
            <a:r>
              <a:rPr sz="1800" i="1" dirty="0">
                <a:latin typeface="Arial"/>
                <a:cs typeface="Arial"/>
              </a:rPr>
              <a:t>Pseudonymization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Replacing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identifiers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artificial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IDs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patient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#12345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instead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name).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700"/>
              </a:spcBef>
              <a:buClr>
                <a:srgbClr val="877D6D"/>
              </a:buClr>
              <a:buFont typeface="Arial MT"/>
              <a:buChar char="–"/>
            </a:pPr>
            <a:endParaRPr sz="1800">
              <a:latin typeface="Arial MT"/>
              <a:cs typeface="Arial MT"/>
            </a:endParaRPr>
          </a:p>
          <a:p>
            <a:pPr marL="193675" indent="-180975">
              <a:lnSpc>
                <a:spcPct val="100000"/>
              </a:lnSpc>
              <a:buClr>
                <a:srgbClr val="877D6D"/>
              </a:buClr>
              <a:buChar char="•"/>
              <a:tabLst>
                <a:tab pos="193675" algn="l"/>
              </a:tabLst>
            </a:pPr>
            <a:r>
              <a:rPr sz="1800" dirty="0">
                <a:latin typeface="Arial MT"/>
                <a:cs typeface="Arial MT"/>
              </a:rPr>
              <a:t>Encryption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(at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rest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transit)</a:t>
            </a:r>
            <a:endParaRPr sz="180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5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dirty="0">
                <a:latin typeface="Arial MT"/>
                <a:cs typeface="Arial MT"/>
              </a:rPr>
              <a:t>Protects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rest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(stored)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transit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(when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transmitted).</a:t>
            </a:r>
            <a:endParaRPr sz="1800">
              <a:latin typeface="Arial MT"/>
              <a:cs typeface="Arial MT"/>
            </a:endParaRPr>
          </a:p>
          <a:p>
            <a:pPr marL="497840" marR="5080" lvl="1" indent="-161290">
              <a:lnSpc>
                <a:spcPct val="100800"/>
              </a:lnSpc>
              <a:spcBef>
                <a:spcPts val="525"/>
              </a:spcBef>
              <a:buClr>
                <a:srgbClr val="877D6D"/>
              </a:buClr>
              <a:buChar char="–"/>
              <a:tabLst>
                <a:tab pos="499109" algn="l"/>
              </a:tabLst>
            </a:pPr>
            <a:r>
              <a:rPr sz="1800" dirty="0">
                <a:latin typeface="Arial MT"/>
                <a:cs typeface="Arial MT"/>
              </a:rPr>
              <a:t>Advanced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techniques: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homomorphic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encryption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allows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computations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performed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encrypted 	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without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decryption,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keeping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sensitive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information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hidden.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705"/>
              </a:spcBef>
              <a:buClr>
                <a:srgbClr val="877D6D"/>
              </a:buClr>
              <a:buFont typeface="Arial MT"/>
              <a:buChar char="–"/>
            </a:pPr>
            <a:endParaRPr sz="1800">
              <a:latin typeface="Arial MT"/>
              <a:cs typeface="Arial MT"/>
            </a:endParaRPr>
          </a:p>
          <a:p>
            <a:pPr marL="193675" indent="-180975">
              <a:lnSpc>
                <a:spcPct val="100000"/>
              </a:lnSpc>
              <a:buClr>
                <a:srgbClr val="877D6D"/>
              </a:buClr>
              <a:buChar char="•"/>
              <a:tabLst>
                <a:tab pos="193675" algn="l"/>
              </a:tabLst>
            </a:pPr>
            <a:r>
              <a:rPr sz="1800" dirty="0">
                <a:latin typeface="Arial MT"/>
                <a:cs typeface="Arial MT"/>
              </a:rPr>
              <a:t>Differential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privacy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methods</a:t>
            </a:r>
            <a:endParaRPr sz="180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5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dirty="0">
                <a:latin typeface="Arial MT"/>
                <a:cs typeface="Arial MT"/>
              </a:rPr>
              <a:t>Adds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controlled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“noise”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(randomness)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datasets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query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results.</a:t>
            </a:r>
            <a:endParaRPr sz="1800">
              <a:latin typeface="Arial MT"/>
              <a:cs typeface="Arial MT"/>
            </a:endParaRPr>
          </a:p>
          <a:p>
            <a:pPr marL="497840" marR="225425" lvl="1" indent="-161290">
              <a:lnSpc>
                <a:spcPct val="100899"/>
              </a:lnSpc>
              <a:spcBef>
                <a:spcPts val="520"/>
              </a:spcBef>
              <a:buClr>
                <a:srgbClr val="877D6D"/>
              </a:buClr>
              <a:buChar char="–"/>
              <a:tabLst>
                <a:tab pos="499109" algn="l"/>
              </a:tabLst>
            </a:pPr>
            <a:r>
              <a:rPr sz="1800" dirty="0">
                <a:latin typeface="Arial MT"/>
                <a:cs typeface="Arial MT"/>
              </a:rPr>
              <a:t>Ensures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results remain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statistically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accurate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make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very difficult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trace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back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 	</a:t>
            </a:r>
            <a:r>
              <a:rPr sz="1800" spc="-10" dirty="0">
                <a:latin typeface="Arial MT"/>
                <a:cs typeface="Arial MT"/>
              </a:rPr>
              <a:t>individual.</a:t>
            </a:r>
            <a:endParaRPr sz="180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5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dirty="0">
                <a:latin typeface="Arial MT"/>
                <a:cs typeface="Arial MT"/>
              </a:rPr>
              <a:t>Example: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Google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their data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collection.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06" y="399714"/>
            <a:ext cx="4691163" cy="2910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7057" y="946721"/>
            <a:ext cx="10766743" cy="275973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640"/>
              </a:spcBef>
              <a:buClr>
                <a:srgbClr val="877D6D"/>
              </a:buClr>
              <a:buFont typeface="Arial MT"/>
              <a:buChar char="•"/>
              <a:tabLst>
                <a:tab pos="193675" algn="l"/>
              </a:tabLst>
            </a:pPr>
            <a:r>
              <a:rPr sz="1800" dirty="0">
                <a:latin typeface="Arial MT"/>
                <a:cs typeface="Arial MT"/>
              </a:rPr>
              <a:t>Access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Controls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&amp;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Governance</a:t>
            </a:r>
            <a:endParaRPr sz="1800" dirty="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5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spc="-10" dirty="0">
                <a:latin typeface="Arial MT"/>
                <a:cs typeface="Arial MT"/>
              </a:rPr>
              <a:t>Role-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access: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Users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authorized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to.</a:t>
            </a:r>
            <a:endParaRPr sz="1800" dirty="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5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spc="-10" dirty="0">
                <a:latin typeface="Arial MT"/>
                <a:cs typeface="Arial MT"/>
              </a:rPr>
              <a:t>Multi-</a:t>
            </a:r>
            <a:r>
              <a:rPr sz="1800" dirty="0">
                <a:latin typeface="Arial MT"/>
                <a:cs typeface="Arial MT"/>
              </a:rPr>
              <a:t>factor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authentication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logging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access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activities.</a:t>
            </a:r>
            <a:endParaRPr sz="1800" dirty="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5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dirty="0">
                <a:latin typeface="Arial MT"/>
                <a:cs typeface="Arial MT"/>
              </a:rPr>
              <a:t>Essential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compliance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regulations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like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GDPR</a:t>
            </a:r>
            <a:r>
              <a:rPr lang="en-AU" sz="1800" spc="-10" dirty="0">
                <a:latin typeface="Arial MT"/>
                <a:cs typeface="Arial MT"/>
              </a:rPr>
              <a:t>(</a:t>
            </a:r>
            <a:r>
              <a:rPr lang="en-US" sz="1800" spc="-10" dirty="0">
                <a:latin typeface="Arial MT"/>
                <a:cs typeface="Arial MT"/>
              </a:rPr>
              <a:t>European Union's General Data Protection Regulation)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 marL="193675" indent="-180975">
              <a:lnSpc>
                <a:spcPct val="100000"/>
              </a:lnSpc>
              <a:spcBef>
                <a:spcPts val="1145"/>
              </a:spcBef>
              <a:buClr>
                <a:srgbClr val="877D6D"/>
              </a:buClr>
              <a:buChar char="•"/>
              <a:tabLst>
                <a:tab pos="193675" algn="l"/>
              </a:tabLst>
            </a:pP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Minimization</a:t>
            </a:r>
            <a:endParaRPr sz="1800" dirty="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0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dirty="0">
                <a:latin typeface="Arial MT"/>
                <a:cs typeface="Arial MT"/>
              </a:rPr>
              <a:t>Collect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 strictly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necessary.</a:t>
            </a:r>
            <a:endParaRPr sz="1800" dirty="0">
              <a:latin typeface="Arial MT"/>
              <a:cs typeface="Arial MT"/>
            </a:endParaRPr>
          </a:p>
          <a:p>
            <a:pPr marL="497840" lvl="1" indent="-161290">
              <a:lnSpc>
                <a:spcPct val="100000"/>
              </a:lnSpc>
              <a:spcBef>
                <a:spcPts val="545"/>
              </a:spcBef>
              <a:buClr>
                <a:srgbClr val="877D6D"/>
              </a:buClr>
              <a:buChar char="–"/>
              <a:tabLst>
                <a:tab pos="497840" algn="l"/>
              </a:tabLst>
            </a:pPr>
            <a:r>
              <a:rPr sz="1800" dirty="0">
                <a:latin typeface="Arial MT"/>
                <a:cs typeface="Arial MT"/>
              </a:rPr>
              <a:t>Reduces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exposure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aligns with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privacy </a:t>
            </a:r>
            <a:r>
              <a:rPr sz="1800" spc="-10" dirty="0">
                <a:latin typeface="Arial MT"/>
                <a:cs typeface="Arial MT"/>
              </a:rPr>
              <a:t>laws.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78" y="390196"/>
            <a:ext cx="4195868" cy="30056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7057" y="870521"/>
            <a:ext cx="6731000" cy="1685289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1240"/>
              </a:spcBef>
              <a:buClr>
                <a:srgbClr val="877D6D"/>
              </a:buClr>
              <a:buFont typeface="Arial MT"/>
              <a:buChar char="•"/>
              <a:tabLst>
                <a:tab pos="193675" algn="l"/>
              </a:tabLst>
            </a:pPr>
            <a:r>
              <a:rPr sz="1800" dirty="0">
                <a:latin typeface="Arial MT"/>
                <a:cs typeface="Arial MT"/>
              </a:rPr>
              <a:t>Breach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personal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~147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million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people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(2017)</a:t>
            </a:r>
            <a:endParaRPr sz="1800" dirty="0">
              <a:latin typeface="Arial MT"/>
              <a:cs typeface="Arial MT"/>
            </a:endParaRPr>
          </a:p>
          <a:p>
            <a:pPr marL="193675" indent="-180975">
              <a:lnSpc>
                <a:spcPct val="100000"/>
              </a:lnSpc>
              <a:spcBef>
                <a:spcPts val="1145"/>
              </a:spcBef>
              <a:buClr>
                <a:srgbClr val="877D6D"/>
              </a:buClr>
              <a:buChar char="•"/>
              <a:tabLst>
                <a:tab pos="193675" algn="l"/>
              </a:tabLst>
            </a:pPr>
            <a:r>
              <a:rPr sz="1800" dirty="0">
                <a:latin typeface="Arial MT"/>
                <a:cs typeface="Arial MT"/>
              </a:rPr>
              <a:t>Cause: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unpatched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vulnerability</a:t>
            </a:r>
            <a:endParaRPr sz="1800" dirty="0">
              <a:latin typeface="Arial MT"/>
              <a:cs typeface="Arial MT"/>
            </a:endParaRPr>
          </a:p>
          <a:p>
            <a:pPr marL="193675" indent="-180975">
              <a:lnSpc>
                <a:spcPct val="100000"/>
              </a:lnSpc>
              <a:spcBef>
                <a:spcPts val="1070"/>
              </a:spcBef>
              <a:buClr>
                <a:srgbClr val="877D6D"/>
              </a:buClr>
              <a:buChar char="•"/>
              <a:tabLst>
                <a:tab pos="193675" algn="l"/>
              </a:tabLst>
            </a:pPr>
            <a:r>
              <a:rPr sz="1800" dirty="0">
                <a:latin typeface="Arial MT"/>
                <a:cs typeface="Arial MT"/>
              </a:rPr>
              <a:t>Consequences: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identity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theft,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financial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loss, reputational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damage</a:t>
            </a:r>
            <a:endParaRPr sz="1800" dirty="0">
              <a:latin typeface="Arial MT"/>
              <a:cs typeface="Arial MT"/>
            </a:endParaRPr>
          </a:p>
          <a:p>
            <a:pPr marL="193675" indent="-180975">
              <a:lnSpc>
                <a:spcPct val="100000"/>
              </a:lnSpc>
              <a:spcBef>
                <a:spcPts val="1070"/>
              </a:spcBef>
              <a:buClr>
                <a:srgbClr val="877D6D"/>
              </a:buClr>
              <a:buChar char="•"/>
              <a:tabLst>
                <a:tab pos="193675" algn="l"/>
              </a:tabLst>
            </a:pPr>
            <a:r>
              <a:rPr sz="1800" dirty="0">
                <a:latin typeface="Arial MT"/>
                <a:cs typeface="Arial MT"/>
              </a:rPr>
              <a:t>Lesson: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importance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timely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updates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monitoring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027" y="399658"/>
            <a:ext cx="890781" cy="23401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289918" y="6610984"/>
            <a:ext cx="1778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16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057" y="1015428"/>
            <a:ext cx="10817225" cy="8534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93675" marR="5080" indent="-181610">
              <a:lnSpc>
                <a:spcPct val="100899"/>
              </a:lnSpc>
              <a:spcBef>
                <a:spcPts val="80"/>
              </a:spcBef>
              <a:buClr>
                <a:srgbClr val="877D6D"/>
              </a:buClr>
              <a:buChar char="•"/>
              <a:tabLst>
                <a:tab pos="193675" algn="l"/>
              </a:tabLst>
            </a:pPr>
            <a:r>
              <a:rPr sz="1800" spc="-10" dirty="0">
                <a:latin typeface="Arial MT"/>
                <a:cs typeface="Arial MT"/>
              </a:rPr>
              <a:t>https://cdnapisec.kaltura.com/html5/html5lib/v2.101/mwEmbedFrame.php/p/1282131/uiconf_id/4283396 2/entry_id/0_e8jrgx86?wid=_1282131&amp;iframeembed=true&amp;playerId=kaltura_player_1600412732&amp;entry_i d=0_e8jrgx86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53760" y="6598284"/>
            <a:ext cx="11772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Big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200025"/>
            <a:ext cx="9144000" cy="64484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140071" y="6608444"/>
            <a:ext cx="180149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Big</a:t>
            </a:r>
            <a:r>
              <a:rPr sz="1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4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89918" y="6610984"/>
            <a:ext cx="1778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17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550" y="371411"/>
            <a:ext cx="1757426" cy="3000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1210</Words>
  <Application>Microsoft Office PowerPoint</Application>
  <PresentationFormat>Widescreen</PresentationFormat>
  <Paragraphs>131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MT</vt:lpstr>
      <vt:lpstr>Calibri</vt:lpstr>
      <vt:lpstr>Courier New</vt:lpstr>
      <vt:lpstr>Tahoma</vt:lpstr>
      <vt:lpstr>Times New Roman</vt:lpstr>
      <vt:lpstr>Verdana</vt:lpstr>
      <vt:lpstr>Office Theme</vt:lpstr>
      <vt:lpstr> Topic 12: Big Data Privacy and Security</vt:lpstr>
      <vt:lpstr>PowerPoint Presentation</vt:lpstr>
      <vt:lpstr>PowerPoint Presentation</vt:lpstr>
      <vt:lpstr>Simple (Undirected) Graph: consists of V, a nonempty set of vertices, and E, a set of unordered pairs of distinct elements of V called edges (undirected)</vt:lpstr>
      <vt:lpstr>Directed Graph: G(V, E), set of vertices V, and set of Edges E, that are ordered pair of elements of V (directed edges)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Yuba Raj Kafle</cp:lastModifiedBy>
  <cp:revision>3</cp:revision>
  <dcterms:created xsi:type="dcterms:W3CDTF">2025-11-30T12:10:48Z</dcterms:created>
  <dcterms:modified xsi:type="dcterms:W3CDTF">2025-11-30T12:46:17Z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2025-09-15T00:00:00Z</vt:filetime>
  </property>
  <property fmtid="{D5CDD505-2E9C-101B-9397-08002B2CF9AE}" pid="3" name="LastSaved">
    <vt:filetime>2025-11-30T00:00:00Z</vt:filetime>
  </property>
  <property fmtid="{D5CDD505-2E9C-101B-9397-08002B2CF9AE}" pid="4" name="MSIP_Label_1b52b3a1-dbcb-41fb-a452-370cf542753f_ActionId">
    <vt:lpwstr>6d660856-b09f-4c78-85f2-b22fb1f10b01</vt:lpwstr>
  </property>
  <property fmtid="{D5CDD505-2E9C-101B-9397-08002B2CF9AE}" pid="5" name="MSIP_Label_1b52b3a1-dbcb-41fb-a452-370cf542753f_ContentBits">
    <vt:lpwstr>0</vt:lpwstr>
  </property>
  <property fmtid="{D5CDD505-2E9C-101B-9397-08002B2CF9AE}" pid="6" name="MSIP_Label_1b52b3a1-dbcb-41fb-a452-370cf542753f_Enabled">
    <vt:lpwstr>true</vt:lpwstr>
  </property>
  <property fmtid="{D5CDD505-2E9C-101B-9397-08002B2CF9AE}" pid="7" name="MSIP_Label_1b52b3a1-dbcb-41fb-a452-370cf542753f_Method">
    <vt:lpwstr>Privileged</vt:lpwstr>
  </property>
  <property fmtid="{D5CDD505-2E9C-101B-9397-08002B2CF9AE}" pid="8" name="MSIP_Label_1b52b3a1-dbcb-41fb-a452-370cf542753f_Name">
    <vt:lpwstr>Public</vt:lpwstr>
  </property>
  <property fmtid="{D5CDD505-2E9C-101B-9397-08002B2CF9AE}" pid="9" name="MSIP_Label_1b52b3a1-dbcb-41fb-a452-370cf542753f_SetDate">
    <vt:lpwstr>2023-09-19T00:19:22Z</vt:lpwstr>
  </property>
  <property fmtid="{D5CDD505-2E9C-101B-9397-08002B2CF9AE}" pid="10" name="MSIP_Label_1b52b3a1-dbcb-41fb-a452-370cf542753f_SiteId">
    <vt:lpwstr>d1323671-cdbe-4417-b4d4-bdb24b51316b</vt:lpwstr>
  </property>
</Properties>
</file>